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72" r:id="rId4"/>
    <p:sldId id="273" r:id="rId5"/>
    <p:sldId id="274" r:id="rId6"/>
    <p:sldId id="261" r:id="rId7"/>
    <p:sldId id="275" r:id="rId8"/>
    <p:sldId id="258" r:id="rId9"/>
    <p:sldId id="259" r:id="rId10"/>
    <p:sldId id="260" r:id="rId11"/>
    <p:sldId id="266" r:id="rId12"/>
    <p:sldId id="269" r:id="rId13"/>
    <p:sldId id="262" r:id="rId14"/>
    <p:sldId id="276" r:id="rId15"/>
    <p:sldId id="263" r:id="rId16"/>
    <p:sldId id="264" r:id="rId17"/>
    <p:sldId id="265" r:id="rId18"/>
    <p:sldId id="268" r:id="rId19"/>
    <p:sldId id="267" r:id="rId20"/>
    <p:sldId id="277" r:id="rId21"/>
    <p:sldId id="278" r:id="rId22"/>
    <p:sldId id="279" r:id="rId23"/>
    <p:sldId id="280" r:id="rId24"/>
    <p:sldId id="281" r:id="rId25"/>
    <p:sldId id="28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-677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A8EDEC-DE15-40C5-A4EB-DDAC704C450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65C6F-9ADB-48CC-86E4-D074ED41C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273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B522D-B74E-5976-BAE2-46577297E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3934F1-8891-00BC-1026-24105F94A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D36380-C468-A840-46B6-AF916E140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 </a:t>
            </a:r>
            <a:r>
              <a:rPr lang="en-US" dirty="0" err="1"/>
              <a:t>protobuf</a:t>
            </a:r>
            <a:r>
              <a:rPr lang="en-US" dirty="0"/>
              <a:t>, maybe due to bytes not converted, conversion not done</a:t>
            </a:r>
          </a:p>
          <a:p>
            <a:endParaRPr lang="en-US" dirty="0"/>
          </a:p>
          <a:p>
            <a:r>
              <a:rPr lang="en-US" dirty="0" err="1"/>
              <a:t>Grpc</a:t>
            </a:r>
            <a:r>
              <a:rPr lang="en-US" dirty="0"/>
              <a:t> inconsistent not always faster?</a:t>
            </a:r>
          </a:p>
          <a:p>
            <a:endParaRPr lang="en-US" dirty="0"/>
          </a:p>
          <a:p>
            <a:r>
              <a:rPr lang="en-US" dirty="0"/>
              <a:t>Rest JSON still for single instances request/responses</a:t>
            </a:r>
          </a:p>
          <a:p>
            <a:endParaRPr lang="en-US" dirty="0"/>
          </a:p>
          <a:p>
            <a:r>
              <a:rPr lang="en-US" dirty="0"/>
              <a:t>Rest </a:t>
            </a:r>
            <a:r>
              <a:rPr lang="en-US" dirty="0" err="1"/>
              <a:t>protobuf</a:t>
            </a:r>
            <a:r>
              <a:rPr lang="en-US" dirty="0"/>
              <a:t> likely </a:t>
            </a:r>
            <a:r>
              <a:rPr lang="en-US" dirty="0" err="1"/>
              <a:t>protocurl</a:t>
            </a:r>
            <a:r>
              <a:rPr lang="en-US" dirty="0"/>
              <a:t> is not optimized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3B1AB-019C-BFC5-F01B-F040ABF196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368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1C8E2-89DC-4DC1-3DD0-E5A7185CE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401005-1ED6-B9E9-9702-9882D0FA9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15B3A3-2B6E-B0B6-2DC2-486AFFEFA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 </a:t>
            </a:r>
            <a:r>
              <a:rPr lang="en-US" dirty="0" err="1"/>
              <a:t>protobuf</a:t>
            </a:r>
            <a:r>
              <a:rPr lang="en-US" dirty="0"/>
              <a:t>, maybe due to bytes not converted, conversion not done</a:t>
            </a:r>
          </a:p>
          <a:p>
            <a:endParaRPr lang="en-US" dirty="0"/>
          </a:p>
          <a:p>
            <a:r>
              <a:rPr lang="en-US" dirty="0" err="1"/>
              <a:t>Grpc</a:t>
            </a:r>
            <a:r>
              <a:rPr lang="en-US" dirty="0"/>
              <a:t> inconsistent not always faster?</a:t>
            </a:r>
          </a:p>
          <a:p>
            <a:endParaRPr lang="en-US" dirty="0"/>
          </a:p>
          <a:p>
            <a:r>
              <a:rPr lang="en-US" dirty="0"/>
              <a:t>Rest JSON still for single instances request/responses</a:t>
            </a:r>
          </a:p>
          <a:p>
            <a:endParaRPr lang="en-US" dirty="0"/>
          </a:p>
          <a:p>
            <a:r>
              <a:rPr lang="en-US" dirty="0"/>
              <a:t>Rest </a:t>
            </a:r>
            <a:r>
              <a:rPr lang="en-US" dirty="0" err="1"/>
              <a:t>protobuf</a:t>
            </a:r>
            <a:r>
              <a:rPr lang="en-US" dirty="0"/>
              <a:t> likely </a:t>
            </a:r>
            <a:r>
              <a:rPr lang="en-US" dirty="0" err="1"/>
              <a:t>protocurl</a:t>
            </a:r>
            <a:r>
              <a:rPr lang="en-US" dirty="0"/>
              <a:t> is not optimized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84AC6-376E-E74A-8BFA-6AF5CD619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35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9C711-4C24-9B4B-BA05-A7401C3CB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922CE4-766C-48AC-4C65-908D34530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EB6F7-6C3F-121F-6479-91B742BD6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 </a:t>
            </a:r>
            <a:r>
              <a:rPr lang="en-US" dirty="0" err="1"/>
              <a:t>protobuf</a:t>
            </a:r>
            <a:r>
              <a:rPr lang="en-US" dirty="0"/>
              <a:t>, maybe due to bytes not converted, conversion not done</a:t>
            </a:r>
          </a:p>
          <a:p>
            <a:endParaRPr lang="en-US" dirty="0"/>
          </a:p>
          <a:p>
            <a:r>
              <a:rPr lang="en-US" dirty="0" err="1"/>
              <a:t>Grpc</a:t>
            </a:r>
            <a:r>
              <a:rPr lang="en-US" dirty="0"/>
              <a:t> inconsistent not always faster?</a:t>
            </a:r>
          </a:p>
          <a:p>
            <a:endParaRPr lang="en-US" dirty="0"/>
          </a:p>
          <a:p>
            <a:r>
              <a:rPr lang="en-US" dirty="0"/>
              <a:t>Rest JSON still for single instances request/responses</a:t>
            </a:r>
          </a:p>
          <a:p>
            <a:endParaRPr lang="en-US" dirty="0"/>
          </a:p>
          <a:p>
            <a:r>
              <a:rPr lang="en-US" dirty="0"/>
              <a:t>Rest </a:t>
            </a:r>
            <a:r>
              <a:rPr lang="en-US" dirty="0" err="1"/>
              <a:t>protobuf</a:t>
            </a:r>
            <a:r>
              <a:rPr lang="en-US" dirty="0"/>
              <a:t> likely </a:t>
            </a:r>
            <a:r>
              <a:rPr lang="en-US" dirty="0" err="1"/>
              <a:t>protocurl</a:t>
            </a:r>
            <a:r>
              <a:rPr lang="en-US" dirty="0"/>
              <a:t> is not optimized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A540B-C283-DA1B-1450-C3819D47C0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049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85F29-CCC0-9AF3-FB0E-D4D978086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8B4DE7-4C5B-5D4F-D4A9-32CF7D04E5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87AE2-D42F-CBBD-F789-0BAE87EF7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 </a:t>
            </a:r>
            <a:r>
              <a:rPr lang="en-US" dirty="0" err="1"/>
              <a:t>protobuf</a:t>
            </a:r>
            <a:r>
              <a:rPr lang="en-US" dirty="0"/>
              <a:t>, maybe due to bytes not converted, conversion not done</a:t>
            </a:r>
          </a:p>
          <a:p>
            <a:endParaRPr lang="en-US" dirty="0"/>
          </a:p>
          <a:p>
            <a:r>
              <a:rPr lang="en-US" dirty="0" err="1"/>
              <a:t>Grpc</a:t>
            </a:r>
            <a:r>
              <a:rPr lang="en-US" dirty="0"/>
              <a:t> inconsistent not always faster?</a:t>
            </a:r>
          </a:p>
          <a:p>
            <a:endParaRPr lang="en-US" dirty="0"/>
          </a:p>
          <a:p>
            <a:r>
              <a:rPr lang="en-US" dirty="0"/>
              <a:t>Rest JSON still for single instances request/responses</a:t>
            </a:r>
          </a:p>
          <a:p>
            <a:endParaRPr lang="en-US" dirty="0"/>
          </a:p>
          <a:p>
            <a:r>
              <a:rPr lang="en-US" dirty="0"/>
              <a:t>Rest </a:t>
            </a:r>
            <a:r>
              <a:rPr lang="en-US" dirty="0" err="1"/>
              <a:t>protobuf</a:t>
            </a:r>
            <a:r>
              <a:rPr lang="en-US" dirty="0"/>
              <a:t> likely </a:t>
            </a:r>
            <a:r>
              <a:rPr lang="en-US" dirty="0" err="1"/>
              <a:t>protocurl</a:t>
            </a:r>
            <a:r>
              <a:rPr lang="en-US" dirty="0"/>
              <a:t> is not optimized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6A900-A3CA-802D-7F53-AF52B4794A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60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 </a:t>
            </a:r>
            <a:r>
              <a:rPr lang="en-US" dirty="0" err="1"/>
              <a:t>protobuf</a:t>
            </a:r>
            <a:r>
              <a:rPr lang="en-US" dirty="0"/>
              <a:t>, maybe due to bytes not converted, conversion not done</a:t>
            </a:r>
          </a:p>
          <a:p>
            <a:endParaRPr lang="en-US" dirty="0"/>
          </a:p>
          <a:p>
            <a:r>
              <a:rPr lang="en-US" dirty="0" err="1"/>
              <a:t>Grpc</a:t>
            </a:r>
            <a:r>
              <a:rPr lang="en-US" dirty="0"/>
              <a:t> inconsistent not always faster?</a:t>
            </a:r>
          </a:p>
          <a:p>
            <a:endParaRPr lang="en-US" dirty="0"/>
          </a:p>
          <a:p>
            <a:r>
              <a:rPr lang="en-US" dirty="0"/>
              <a:t>Rest JSON still for single instances request/responses</a:t>
            </a:r>
          </a:p>
          <a:p>
            <a:endParaRPr lang="en-US" dirty="0"/>
          </a:p>
          <a:p>
            <a:r>
              <a:rPr lang="en-US" dirty="0"/>
              <a:t>Rest </a:t>
            </a:r>
            <a:r>
              <a:rPr lang="en-US" dirty="0" err="1"/>
              <a:t>protobuf</a:t>
            </a:r>
            <a:r>
              <a:rPr lang="en-US" dirty="0"/>
              <a:t> likely </a:t>
            </a:r>
            <a:r>
              <a:rPr lang="en-US" dirty="0" err="1"/>
              <a:t>protocurl</a:t>
            </a:r>
            <a:r>
              <a:rPr lang="en-US" dirty="0"/>
              <a:t> is not optimized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57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085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Protobuf</a:t>
            </a:r>
            <a:r>
              <a:rPr lang="en-US" dirty="0"/>
              <a:t> binary bytes not converted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32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E866A-B971-C947-AA4D-825BF6984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581BBF-D37D-1167-D987-7D790375C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FB79B3-071E-CFAB-67E2-3E1DB09654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 </a:t>
            </a:r>
            <a:r>
              <a:rPr lang="en-US" dirty="0" err="1"/>
              <a:t>protobuf</a:t>
            </a:r>
            <a:r>
              <a:rPr lang="en-US" dirty="0"/>
              <a:t>, maybe due to bytes not converted, conversion not done</a:t>
            </a:r>
          </a:p>
          <a:p>
            <a:endParaRPr lang="en-US" dirty="0"/>
          </a:p>
          <a:p>
            <a:r>
              <a:rPr lang="en-US" dirty="0" err="1"/>
              <a:t>Grpc</a:t>
            </a:r>
            <a:r>
              <a:rPr lang="en-US" dirty="0"/>
              <a:t> inconsistent not always faster?</a:t>
            </a:r>
          </a:p>
          <a:p>
            <a:endParaRPr lang="en-US" dirty="0"/>
          </a:p>
          <a:p>
            <a:r>
              <a:rPr lang="en-US" dirty="0"/>
              <a:t>Rest JSON still for single instances request/responses</a:t>
            </a:r>
          </a:p>
          <a:p>
            <a:endParaRPr lang="en-US" dirty="0"/>
          </a:p>
          <a:p>
            <a:r>
              <a:rPr lang="en-US" dirty="0"/>
              <a:t>Rest </a:t>
            </a:r>
            <a:r>
              <a:rPr lang="en-US" dirty="0" err="1"/>
              <a:t>protobuf</a:t>
            </a:r>
            <a:r>
              <a:rPr lang="en-US" dirty="0"/>
              <a:t> likely </a:t>
            </a:r>
            <a:r>
              <a:rPr lang="en-US" dirty="0" err="1"/>
              <a:t>protocurl</a:t>
            </a:r>
            <a:r>
              <a:rPr lang="en-US" dirty="0"/>
              <a:t> is not optimized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74CC1-FAA1-2BAD-CC3E-004FE2541B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8698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17468-0AB9-CA24-EE38-FD7C759D8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817BD2-63D9-D86C-D4D9-FC11A849A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28CA0C-084E-653B-4F8D-3FA56D09C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 </a:t>
            </a:r>
            <a:r>
              <a:rPr lang="en-US" dirty="0" err="1"/>
              <a:t>protobuf</a:t>
            </a:r>
            <a:r>
              <a:rPr lang="en-US" dirty="0"/>
              <a:t>, maybe due to bytes not converted, conversion not done</a:t>
            </a:r>
          </a:p>
          <a:p>
            <a:endParaRPr lang="en-US" dirty="0"/>
          </a:p>
          <a:p>
            <a:r>
              <a:rPr lang="en-US" dirty="0" err="1"/>
              <a:t>Grpc</a:t>
            </a:r>
            <a:r>
              <a:rPr lang="en-US" dirty="0"/>
              <a:t> inconsistent not always faster?</a:t>
            </a:r>
          </a:p>
          <a:p>
            <a:endParaRPr lang="en-US" dirty="0"/>
          </a:p>
          <a:p>
            <a:r>
              <a:rPr lang="en-US" dirty="0"/>
              <a:t>Rest JSON still for single instances request/responses</a:t>
            </a:r>
          </a:p>
          <a:p>
            <a:endParaRPr lang="en-US" dirty="0"/>
          </a:p>
          <a:p>
            <a:r>
              <a:rPr lang="en-US" dirty="0"/>
              <a:t>Rest </a:t>
            </a:r>
            <a:r>
              <a:rPr lang="en-US" dirty="0" err="1"/>
              <a:t>protobuf</a:t>
            </a:r>
            <a:r>
              <a:rPr lang="en-US" dirty="0"/>
              <a:t> likely </a:t>
            </a:r>
            <a:r>
              <a:rPr lang="en-US" dirty="0" err="1"/>
              <a:t>protocurl</a:t>
            </a:r>
            <a:r>
              <a:rPr lang="en-US" dirty="0"/>
              <a:t> is not optimized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8EAFC-1D68-147C-107F-4C81A2C23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8623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D94ED-5D28-3458-FB68-3BCD15F7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2588E0-87C8-488A-4E19-B928C94351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531088-CA9C-5297-CCB5-E8C85DB6B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CFB83-400B-3021-2E79-38AAAF90ED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9048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19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3660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A236B-CFE6-1BB1-D4FF-CDED09433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923A6F-4A7D-751B-9BFF-DB42214DF4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418C1D-332C-66FE-25AD-D0A098930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 </a:t>
            </a:r>
            <a:r>
              <a:rPr lang="en-US" dirty="0" err="1"/>
              <a:t>protobuf</a:t>
            </a:r>
            <a:r>
              <a:rPr lang="en-US" dirty="0"/>
              <a:t>, maybe due to bytes not converted, conversion not done</a:t>
            </a:r>
          </a:p>
          <a:p>
            <a:endParaRPr lang="en-US" dirty="0"/>
          </a:p>
          <a:p>
            <a:r>
              <a:rPr lang="en-US" dirty="0" err="1"/>
              <a:t>Grpc</a:t>
            </a:r>
            <a:r>
              <a:rPr lang="en-US" dirty="0"/>
              <a:t> inconsistent not always faster?</a:t>
            </a:r>
          </a:p>
          <a:p>
            <a:endParaRPr lang="en-US" dirty="0"/>
          </a:p>
          <a:p>
            <a:r>
              <a:rPr lang="en-US" dirty="0"/>
              <a:t>Rest JSON still for single instances request/responses</a:t>
            </a:r>
          </a:p>
          <a:p>
            <a:endParaRPr lang="en-US" dirty="0"/>
          </a:p>
          <a:p>
            <a:r>
              <a:rPr lang="en-US" dirty="0"/>
              <a:t>Rest </a:t>
            </a:r>
            <a:r>
              <a:rPr lang="en-US" dirty="0" err="1"/>
              <a:t>protobuf</a:t>
            </a:r>
            <a:r>
              <a:rPr lang="en-US" dirty="0"/>
              <a:t> likely </a:t>
            </a:r>
            <a:r>
              <a:rPr lang="en-US" dirty="0" err="1"/>
              <a:t>protocurl</a:t>
            </a:r>
            <a:r>
              <a:rPr lang="en-US" dirty="0"/>
              <a:t> is not optimized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7A5FF-92A3-6D73-43EA-77543F184C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0884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5280E-9EA9-D3FF-FC4D-92C035F26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B22835-36F2-3387-DB03-3E9C6523F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BF36B-8935-1C83-9087-308932148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EB8E2-2E94-1F15-019D-C9A742FF3C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727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37774-A44A-EC55-5037-D96A07037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9F3B2A-99EA-7957-2BD3-4761D3FE5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3076F9-0058-C06E-0C0D-8DAE9DCBB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2250A-66F9-4115-90C6-FA20855F78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4670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4A101-CDC9-402C-E4B9-D8E98E2EF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D3F153-A862-FE83-99C4-295C8B44D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1BC4DE-8545-2825-303B-D89ED8E83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ECACB-00B2-6D64-EDA3-4A16055647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0770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C1E53-22FC-9B0B-75B8-59DB7A770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83DD85-2F6C-8F41-5479-912FF1C72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51AD75-2B73-3C18-96F0-08D89DA29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 threads/calls over the same stub at once may be too much? Split up stubs?, maybe a point to explore and work on next time, polymorphism wrapping on the function call, to call on a different stub and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etc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based on method passed in or something, wrap in function or wrap in stub itself to load balance, in the test call or functions or stub area also can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speedup not as significant when data size is larger since from initial sequential, already lesser "free time" due to more % of it spent already so not as much "gap" time to fill up, but small payload has more gap free time, so by increasing calls, can finish much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much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faster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speedup not as sig also likely due to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parallised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call and receive big data from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bottlenecked since large data already take up a lot of time so 20 calls at once will just end up being queued and bottlenecked there, not as much gap free time already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prevopusly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due to large payload size</a:t>
            </a:r>
            <a:r>
              <a:rPr lang="en-US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C5459-C068-37DE-90BE-26F3BCCB3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094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37092-A6F0-D383-EFC0-B4D40DDC7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76DE3-3444-0B3B-158C-4F5F3446C3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5B9EA-2854-37D3-F356-3498E80A9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F044-87D6-4710-9D25-D426445AAD07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7BE45-DC49-34EF-9895-B85D7FB58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DE32F-182B-DBC0-B1A4-9F1BE75B3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A558-7C04-4321-89E6-9E16B1B6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040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493D1-15DC-4AD4-95BB-D175077E8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35B07-5F46-1E13-AC3E-C3AEE9E22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62417-1254-0ECA-4757-21D2172A2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F044-87D6-4710-9D25-D426445AAD07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FE69E-5FD2-4AF5-D0D3-45B7F347A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7E95F-7D16-8597-6983-25C745D7B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A558-7C04-4321-89E6-9E16B1B6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43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331E2-3A73-8C91-2DBB-C0B0DC0C1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FE24F-FEB4-E4C0-F690-9FC0B7736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772F5-81DB-7FC1-6188-F043E54CF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F044-87D6-4710-9D25-D426445AAD07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04FF9-A7A6-2AE0-BE30-0C883DD4F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40492-B949-6502-78B2-8B763368A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A558-7C04-4321-89E6-9E16B1B6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73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78605-6CA6-BBF0-F623-DE2B8DD8F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C6A98-EAB4-D46A-0616-E3712D75DA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FDF01A-19BC-4C3D-1F3D-65966A6AD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678120-DB35-D2E4-6AF5-F145A0E88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F044-87D6-4710-9D25-D426445AAD07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66E4A-D819-1998-E188-A59F94C79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B9C15-66C7-7B22-5F3D-F30C4912C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A558-7C04-4321-89E6-9E16B1B6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76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F1FAC-C6FD-3393-764C-A9B5C7CF6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25E62E-16B2-2092-80DD-8AE946E85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B20F7F-4BFA-12DE-023A-E6D5018E5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F31E8B-739F-C0B0-13CF-67EF139290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A073F2-9CD4-E51F-E19F-C63C78523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7CC5F4-636D-07C7-6DE6-4A4183BA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F044-87D6-4710-9D25-D426445AAD07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557914-810A-4DBF-B9C7-1D4661018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7C9401-2238-CE6E-EF1F-FE0E13A22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A558-7C04-4321-89E6-9E16B1B6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754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89952-D823-B626-F12C-C64E78B96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CB7140-5E0F-A9E1-04BB-599C50B9F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F044-87D6-4710-9D25-D426445AAD07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156E00-5CBF-2135-7696-F9FAC9B86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9355E-84B6-444B-A293-F1F1863CD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A558-7C04-4321-89E6-9E16B1B6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95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F599E0-06FE-2BE5-8683-A11F0216B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F044-87D6-4710-9D25-D426445AAD07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6B87D8-BC38-FFE1-2440-D3E314411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B2937-1040-9668-4F28-E1364CFC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A558-7C04-4321-89E6-9E16B1B6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08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0D2E7-7CD6-B5F0-523B-9353A7E48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6D2C9-0860-4F86-F498-D9D35132D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176484-2B10-8D2A-C664-BDEE6475A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227FD-2A3D-ECE3-C824-D8202FA22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F044-87D6-4710-9D25-D426445AAD07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91D86-9487-B120-89DF-E9E9275A2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E369B-7E26-14FF-84E8-7B028D03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A558-7C04-4321-89E6-9E16B1B6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58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8FC49-2F4C-FD8C-6768-ACA7BF65B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13F0CF-C91C-B6AB-C356-D5E2338847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762B4-7698-4286-0013-F7F3E1619F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70A3D6-05A9-44AE-DEB3-9D963171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F044-87D6-4710-9D25-D426445AAD07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D8ED7-7125-F848-1C55-8B76B8A45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83EB4-6CE8-79C2-FE6F-40AED2052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A558-7C04-4321-89E6-9E16B1B6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677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B998D-6CE4-9309-3EB6-9BD42AF00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DE1C37-20B4-B724-2BCD-E34AE4ED01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CD7B4-6562-2DBE-792D-A2FE20130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F044-87D6-4710-9D25-D426445AAD07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781C3-4649-5893-0635-ACEC6C331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E8EBB-CE78-3E69-AC29-FC9B9C041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A558-7C04-4321-89E6-9E16B1B6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837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94D001-B468-29AF-3E66-CAEC310B09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F07A6A-40C7-9329-BF10-BBF6EF930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9051B-FE64-7409-69DE-055CF97F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F044-87D6-4710-9D25-D426445AAD07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59705-AEF0-725F-F760-2CCE337BD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5E978-B1E5-874B-D134-27199AA69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A558-7C04-4321-89E6-9E16B1B6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76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2D61CF-FD90-F593-A49E-19A878EAC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F1BB6-4BC8-5DDA-EE1B-5951B6D52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7ECBE-3ED8-7C41-DEA7-0D27587490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8EF044-87D6-4710-9D25-D426445AAD07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A2839-A4E8-1558-9184-77D952FA03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0A36B-59BB-2823-D279-5941988BD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AEA558-7C04-4321-89E6-9E16B1B6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995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35626E-B725-4675-A6AD-C7A41233B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gRPC, REST, Protobuf, JSON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50AB2-EA1B-F989-548E-23577A3BEF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5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D0DF9F-1E2D-5CFD-D2E6-89F1ED1AA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General architecture (Testing based on)</a:t>
            </a:r>
          </a:p>
        </p:txBody>
      </p:sp>
      <p:pic>
        <p:nvPicPr>
          <p:cNvPr id="5" name="Content Placeholder 4" descr="A group of white rectangular shapes with black text&#10;&#10;AI-generated content may be incorrect.">
            <a:extLst>
              <a:ext uri="{FF2B5EF4-FFF2-40B4-BE49-F238E27FC236}">
                <a16:creationId xmlns:a16="http://schemas.microsoft.com/office/drawing/2014/main" id="{14E12D97-A3DA-867A-2F05-623C660A7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720" y="1976106"/>
            <a:ext cx="7772560" cy="4373334"/>
          </a:xfrm>
        </p:spPr>
      </p:pic>
    </p:spTree>
    <p:extLst>
      <p:ext uri="{BB962C8B-B14F-4D97-AF65-F5344CB8AC3E}">
        <p14:creationId xmlns:p14="http://schemas.microsoft.com/office/powerpoint/2010/main" val="1308577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F03E6A-BF1F-AD84-7792-10BE7BE15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15D92A-B4EC-7CD7-DB38-951CF8BC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993BC7-9325-D7D9-1246-03308735C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724E86-D8D1-4D3D-DD2D-034DA2D2D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973F59-E057-8325-292E-A00289252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2389F0-B866-B1C1-56DF-31D55BDBC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3202BA-8996-F713-1D31-C8E031E0D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Entity / Payload [Person]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ADB0AE57-7B02-59D6-5C8D-D4A65CDD5B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07685" y="1765335"/>
            <a:ext cx="9976630" cy="4896722"/>
          </a:xfrm>
        </p:spPr>
      </p:pic>
    </p:spTree>
    <p:extLst>
      <p:ext uri="{BB962C8B-B14F-4D97-AF65-F5344CB8AC3E}">
        <p14:creationId xmlns:p14="http://schemas.microsoft.com/office/powerpoint/2010/main" val="4107796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A3F334-5EC9-0819-5E2E-6668E94EA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58351FA-DB6D-7585-EFA4-75DB6F672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4A4418-2F79-095E-66A8-9D78262900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010358-46A6-E35B-C620-AF55B5FAB1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61DEBD-3F4D-C46C-8707-0A140CFBA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D55637-E60F-6B10-3463-2F45925EA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302E4F-AD2C-063C-D185-3ADA2D3AB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Entity / Payload [</a:t>
            </a:r>
            <a:r>
              <a:rPr lang="en-US" sz="4000" dirty="0" err="1">
                <a:solidFill>
                  <a:srgbClr val="FFFFFF"/>
                </a:solidFill>
              </a:rPr>
              <a:t>PersonImageString</a:t>
            </a:r>
            <a:r>
              <a:rPr lang="en-US" sz="4000" dirty="0">
                <a:solidFill>
                  <a:srgbClr val="FFFFFF"/>
                </a:solidFill>
              </a:rPr>
              <a:t>]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628320F-66C9-235E-B273-15C2E40D9E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38420" y="1704837"/>
            <a:ext cx="9915155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772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6FD1B7-3F88-6A9F-8F6E-762386140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CC7A5A0-D37F-0305-EDCA-6FAE102BB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ACC7AF-6832-7EB9-CA3C-8F99EC54E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A480D6-198C-C735-F2A1-5CCAC1CEE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60173E-A394-F36A-BE03-0586FADAD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A5C1D4-3228-053A-D5FE-67B0F228F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003077-A7F4-9944-6E5B-FBDF17A82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Entity / Payload [</a:t>
            </a:r>
            <a:r>
              <a:rPr lang="en-US" sz="4000" dirty="0" err="1">
                <a:solidFill>
                  <a:srgbClr val="FFFFFF"/>
                </a:solidFill>
              </a:rPr>
              <a:t>PersonImageBytes</a:t>
            </a:r>
            <a:r>
              <a:rPr lang="en-US" sz="4000" dirty="0">
                <a:solidFill>
                  <a:srgbClr val="FFFFFF"/>
                </a:solidFill>
              </a:rPr>
              <a:t>]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C35D0DD-9541-E381-BAD1-90991B2BAA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08788" y="1704837"/>
            <a:ext cx="9774420" cy="5032375"/>
          </a:xfrm>
        </p:spPr>
      </p:pic>
    </p:spTree>
    <p:extLst>
      <p:ext uri="{BB962C8B-B14F-4D97-AF65-F5344CB8AC3E}">
        <p14:creationId xmlns:p14="http://schemas.microsoft.com/office/powerpoint/2010/main" val="2339448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2CC0B9-5544-01BC-A8FD-404A60EDA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3E090C-195C-6E65-DB45-3D8BB9D79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846" y="1171112"/>
            <a:ext cx="4230100" cy="3387497"/>
          </a:xfrm>
        </p:spPr>
        <p:txBody>
          <a:bodyPr anchor="b">
            <a:normAutofit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Client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6000" dirty="0">
                <a:solidFill>
                  <a:srgbClr val="FFFFFF"/>
                </a:solidFill>
              </a:rPr>
              <a:t>-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6000" dirty="0">
                <a:solidFill>
                  <a:srgbClr val="FFFFFF"/>
                </a:solidFill>
              </a:rPr>
              <a:t>Server</a:t>
            </a:r>
          </a:p>
        </p:txBody>
      </p:sp>
      <p:pic>
        <p:nvPicPr>
          <p:cNvPr id="7" name="Content Placeholder 6" descr="A group of white rectangular shapes with black text&#10;&#10;AI-generated content may be incorrect.">
            <a:extLst>
              <a:ext uri="{FF2B5EF4-FFF2-40B4-BE49-F238E27FC236}">
                <a16:creationId xmlns:a16="http://schemas.microsoft.com/office/drawing/2014/main" id="{5D582FEA-7736-6300-EF8E-6F865AD651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42" t="30978" r="38520"/>
          <a:stretch/>
        </p:blipFill>
        <p:spPr>
          <a:xfrm>
            <a:off x="6858519" y="772213"/>
            <a:ext cx="4055166" cy="5313572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17AE92-F90C-D4F3-908A-ED9A2EEBE3C7}"/>
              </a:ext>
            </a:extLst>
          </p:cNvPr>
          <p:cNvSpPr txBox="1"/>
          <p:nvPr/>
        </p:nvSpPr>
        <p:spPr>
          <a:xfrm>
            <a:off x="6007232" y="6148727"/>
            <a:ext cx="59407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</a:t>
            </a:r>
            <a:r>
              <a:rPr lang="en-US" dirty="0" err="1"/>
              <a:t>gRPC</a:t>
            </a:r>
            <a:r>
              <a:rPr lang="en-US" dirty="0"/>
              <a:t> is </a:t>
            </a:r>
            <a:r>
              <a:rPr lang="en-US" b="1" dirty="0"/>
              <a:t>instanced</a:t>
            </a:r>
            <a:r>
              <a:rPr lang="en-US" dirty="0"/>
              <a:t> for every call here like a REST call</a:t>
            </a:r>
          </a:p>
          <a:p>
            <a:pPr algn="ctr"/>
            <a:r>
              <a:rPr lang="en-US" dirty="0"/>
              <a:t>Reflection for </a:t>
            </a:r>
            <a:r>
              <a:rPr lang="en-US" dirty="0" err="1"/>
              <a:t>gRPC</a:t>
            </a:r>
            <a:r>
              <a:rPr lang="en-US" dirty="0"/>
              <a:t> not presented in the slides</a:t>
            </a:r>
          </a:p>
        </p:txBody>
      </p:sp>
    </p:spTree>
    <p:extLst>
      <p:ext uri="{BB962C8B-B14F-4D97-AF65-F5344CB8AC3E}">
        <p14:creationId xmlns:p14="http://schemas.microsoft.com/office/powerpoint/2010/main" val="4204255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FC9D2B-99F4-649F-96B2-651B16096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4C43B0-8566-FCC0-2B04-2B536BB27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Test Case API Calls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07C1898-8588-AAD8-8827-0C26B77482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55046" y="350491"/>
            <a:ext cx="7225748" cy="52928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D32120-12F4-5454-BDEA-5B526E4723D7}"/>
              </a:ext>
            </a:extLst>
          </p:cNvPr>
          <p:cNvSpPr txBox="1"/>
          <p:nvPr/>
        </p:nvSpPr>
        <p:spPr>
          <a:xfrm>
            <a:off x="6298145" y="6322843"/>
            <a:ext cx="3739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Note: 97 Nations, 198 calls in total</a:t>
            </a:r>
          </a:p>
        </p:txBody>
      </p:sp>
    </p:spTree>
    <p:extLst>
      <p:ext uri="{BB962C8B-B14F-4D97-AF65-F5344CB8AC3E}">
        <p14:creationId xmlns:p14="http://schemas.microsoft.com/office/powerpoint/2010/main" val="2954195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28FD87-69E7-27D9-D0CF-2400AB09D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Person payload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F6174FF5-3C94-5260-B038-D52A3F5DE2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3671175"/>
              </p:ext>
            </p:extLst>
          </p:nvPr>
        </p:nvGraphicFramePr>
        <p:xfrm>
          <a:off x="86360" y="2481386"/>
          <a:ext cx="12019275" cy="3492659"/>
        </p:xfrm>
        <a:graphic>
          <a:graphicData uri="http://schemas.openxmlformats.org/drawingml/2006/table">
            <a:tbl>
              <a:tblPr lastRow="1" bandRow="1">
                <a:tableStyleId>{00A15C55-8517-42AA-B614-E9B94910E393}</a:tableStyleId>
              </a:tblPr>
              <a:tblGrid>
                <a:gridCol w="2403855">
                  <a:extLst>
                    <a:ext uri="{9D8B030D-6E8A-4147-A177-3AD203B41FA5}">
                      <a16:colId xmlns:a16="http://schemas.microsoft.com/office/drawing/2014/main" val="3081154217"/>
                    </a:ext>
                  </a:extLst>
                </a:gridCol>
                <a:gridCol w="2403855">
                  <a:extLst>
                    <a:ext uri="{9D8B030D-6E8A-4147-A177-3AD203B41FA5}">
                      <a16:colId xmlns:a16="http://schemas.microsoft.com/office/drawing/2014/main" val="1897701556"/>
                    </a:ext>
                  </a:extLst>
                </a:gridCol>
                <a:gridCol w="2403855">
                  <a:extLst>
                    <a:ext uri="{9D8B030D-6E8A-4147-A177-3AD203B41FA5}">
                      <a16:colId xmlns:a16="http://schemas.microsoft.com/office/drawing/2014/main" val="2271323864"/>
                    </a:ext>
                  </a:extLst>
                </a:gridCol>
                <a:gridCol w="2403855">
                  <a:extLst>
                    <a:ext uri="{9D8B030D-6E8A-4147-A177-3AD203B41FA5}">
                      <a16:colId xmlns:a16="http://schemas.microsoft.com/office/drawing/2014/main" val="1928080491"/>
                    </a:ext>
                  </a:extLst>
                </a:gridCol>
                <a:gridCol w="2403855">
                  <a:extLst>
                    <a:ext uri="{9D8B030D-6E8A-4147-A177-3AD203B41FA5}">
                      <a16:colId xmlns:a16="http://schemas.microsoft.com/office/drawing/2014/main" val="3799813651"/>
                    </a:ext>
                  </a:extLst>
                </a:gridCol>
              </a:tblGrid>
              <a:tr h="85273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gRPC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gRPCurl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protoCURL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401481"/>
                  </a:ext>
                </a:extLst>
              </a:tr>
              <a:tr h="7519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JSON</a:t>
                      </a:r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String/JSON</a:t>
                      </a:r>
                    </a:p>
                    <a:p>
                      <a:pPr algn="ctr"/>
                      <a:r>
                        <a:rPr lang="en-US" dirty="0"/>
                        <a:t>RESPONSE: 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JSON</a:t>
                      </a:r>
                    </a:p>
                    <a:p>
                      <a:pPr algn="ctr"/>
                      <a:r>
                        <a:rPr lang="en-US" dirty="0"/>
                        <a:t>RESPONSE: JSON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902575"/>
                  </a:ext>
                </a:extLst>
              </a:tr>
              <a:tr h="172552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real  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0m20.956s</a:t>
                      </a:r>
                    </a:p>
                    <a:p>
                      <a:pPr algn="ctr"/>
                      <a:r>
                        <a:rPr lang="en-US" dirty="0"/>
                        <a:t>user   0m0.105s</a:t>
                      </a:r>
                    </a:p>
                    <a:p>
                      <a:pPr algn="ctr"/>
                      <a:r>
                        <a:rPr lang="en-US" dirty="0"/>
                        <a:t>sys   0m0.749s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real  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0m13.810s *</a:t>
                      </a:r>
                    </a:p>
                    <a:p>
                      <a:pPr algn="ctr"/>
                      <a:r>
                        <a:rPr lang="en-US" dirty="0"/>
                        <a:t>user   0m0.166s</a:t>
                      </a:r>
                    </a:p>
                    <a:p>
                      <a:pPr algn="ctr"/>
                      <a:r>
                        <a:rPr lang="en-US" dirty="0"/>
                        <a:t>sys   0m0.805s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real   0m38.767s</a:t>
                      </a:r>
                    </a:p>
                    <a:p>
                      <a:pPr algn="ctr"/>
                      <a:r>
                        <a:rPr lang="en-US" dirty="0"/>
                        <a:t>user   0m0.121s</a:t>
                      </a:r>
                    </a:p>
                    <a:p>
                      <a:pPr algn="ctr"/>
                      <a:r>
                        <a:rPr lang="en-US" dirty="0"/>
                        <a:t>sys   0m0.791s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real   0m22.641s</a:t>
                      </a:r>
                    </a:p>
                    <a:p>
                      <a:pPr algn="ctr"/>
                      <a:r>
                        <a:rPr lang="en-US" dirty="0"/>
                        <a:t>user   0m0.241s</a:t>
                      </a:r>
                    </a:p>
                    <a:p>
                      <a:pPr algn="ctr"/>
                      <a:r>
                        <a:rPr lang="en-US" dirty="0"/>
                        <a:t>sys   0m2.065s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real  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0m21.812s</a:t>
                      </a:r>
                    </a:p>
                    <a:p>
                      <a:pPr algn="ctr"/>
                      <a:r>
                        <a:rPr lang="en-US" dirty="0"/>
                        <a:t>user   0m0.166s</a:t>
                      </a:r>
                    </a:p>
                    <a:p>
                      <a:pPr algn="ctr"/>
                      <a:r>
                        <a:rPr lang="en-US" dirty="0"/>
                        <a:t>sys   0m1.482s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56449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8B5533E-DF33-1CD4-65BC-0D29A27ED3B8}"/>
              </a:ext>
            </a:extLst>
          </p:cNvPr>
          <p:cNvSpPr txBox="1"/>
          <p:nvPr/>
        </p:nvSpPr>
        <p:spPr>
          <a:xfrm>
            <a:off x="1465017" y="6231356"/>
            <a:ext cx="9261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*: Received </a:t>
            </a:r>
            <a:r>
              <a:rPr lang="en-US" dirty="0" err="1"/>
              <a:t>protobuf</a:t>
            </a:r>
            <a:r>
              <a:rPr lang="en-US" dirty="0"/>
              <a:t> is not converted into readable format, remains in </a:t>
            </a:r>
            <a:r>
              <a:rPr lang="en-US" dirty="0" err="1"/>
              <a:t>protobuf</a:t>
            </a:r>
            <a:r>
              <a:rPr lang="en-US" dirty="0"/>
              <a:t> binary/bytes</a:t>
            </a:r>
          </a:p>
        </p:txBody>
      </p:sp>
    </p:spTree>
    <p:extLst>
      <p:ext uri="{BB962C8B-B14F-4D97-AF65-F5344CB8AC3E}">
        <p14:creationId xmlns:p14="http://schemas.microsoft.com/office/powerpoint/2010/main" val="731153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039C1D-8686-19D1-ADB9-170120822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191073-8BBF-96BF-76B4-2415EBAA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PersonImage</a:t>
            </a:r>
            <a:r>
              <a:rPr lang="en-US" sz="4000" dirty="0">
                <a:solidFill>
                  <a:srgbClr val="FFFFFF"/>
                </a:solidFill>
              </a:rPr>
              <a:t>(String) payload</a:t>
            </a:r>
          </a:p>
        </p:txBody>
      </p:sp>
      <p:graphicFrame>
        <p:nvGraphicFramePr>
          <p:cNvPr id="4" name="Content Placeholder 10">
            <a:extLst>
              <a:ext uri="{FF2B5EF4-FFF2-40B4-BE49-F238E27FC236}">
                <a16:creationId xmlns:a16="http://schemas.microsoft.com/office/drawing/2014/main" id="{49B8C419-8734-F767-F467-B4D3A81BF8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3820148"/>
              </p:ext>
            </p:extLst>
          </p:nvPr>
        </p:nvGraphicFramePr>
        <p:xfrm>
          <a:off x="1737360" y="2555932"/>
          <a:ext cx="9029348" cy="3330186"/>
        </p:xfrm>
        <a:graphic>
          <a:graphicData uri="http://schemas.openxmlformats.org/drawingml/2006/table">
            <a:tbl>
              <a:tblPr lastRow="1" bandRow="1">
                <a:tableStyleId>{00A15C55-8517-42AA-B614-E9B94910E393}</a:tableStyleId>
              </a:tblPr>
              <a:tblGrid>
                <a:gridCol w="2257337">
                  <a:extLst>
                    <a:ext uri="{9D8B030D-6E8A-4147-A177-3AD203B41FA5}">
                      <a16:colId xmlns:a16="http://schemas.microsoft.com/office/drawing/2014/main" val="3081154217"/>
                    </a:ext>
                  </a:extLst>
                </a:gridCol>
                <a:gridCol w="2257337">
                  <a:extLst>
                    <a:ext uri="{9D8B030D-6E8A-4147-A177-3AD203B41FA5}">
                      <a16:colId xmlns:a16="http://schemas.microsoft.com/office/drawing/2014/main" val="1897701556"/>
                    </a:ext>
                  </a:extLst>
                </a:gridCol>
                <a:gridCol w="2257337">
                  <a:extLst>
                    <a:ext uri="{9D8B030D-6E8A-4147-A177-3AD203B41FA5}">
                      <a16:colId xmlns:a16="http://schemas.microsoft.com/office/drawing/2014/main" val="2271323864"/>
                    </a:ext>
                  </a:extLst>
                </a:gridCol>
                <a:gridCol w="2257337">
                  <a:extLst>
                    <a:ext uri="{9D8B030D-6E8A-4147-A177-3AD203B41FA5}">
                      <a16:colId xmlns:a16="http://schemas.microsoft.com/office/drawing/2014/main" val="1928080491"/>
                    </a:ext>
                  </a:extLst>
                </a:gridCol>
              </a:tblGrid>
              <a:tr h="85273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gRPC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gRPCurl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protoCURL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401481"/>
                  </a:ext>
                </a:extLst>
              </a:tr>
              <a:tr h="7519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JSON</a:t>
                      </a:r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JSON</a:t>
                      </a:r>
                    </a:p>
                    <a:p>
                      <a:pPr algn="ctr"/>
                      <a:r>
                        <a:rPr lang="en-US" dirty="0"/>
                        <a:t>RESPONSE: 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902575"/>
                  </a:ext>
                </a:extLst>
              </a:tr>
              <a:tr h="172552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real   0m22.919s</a:t>
                      </a:r>
                    </a:p>
                    <a:p>
                      <a:pPr algn="ctr"/>
                      <a:r>
                        <a:rPr lang="en-US" dirty="0"/>
                        <a:t>user   0m0.120s</a:t>
                      </a:r>
                    </a:p>
                    <a:p>
                      <a:pPr algn="ctr"/>
                      <a:r>
                        <a:rPr lang="en-US" dirty="0"/>
                        <a:t>sys   0m0.824s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real   0m17.600s *</a:t>
                      </a:r>
                    </a:p>
                    <a:p>
                      <a:pPr algn="ctr"/>
                      <a:r>
                        <a:rPr lang="en-US" dirty="0"/>
                        <a:t>user   0m0.107s</a:t>
                      </a:r>
                    </a:p>
                    <a:p>
                      <a:pPr algn="ctr"/>
                      <a:r>
                        <a:rPr lang="en-US" dirty="0"/>
                        <a:t>sys   0m0.488s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real   0m43.198s</a:t>
                      </a:r>
                    </a:p>
                    <a:p>
                      <a:pPr algn="ctr"/>
                      <a:r>
                        <a:rPr lang="en-US" dirty="0"/>
                        <a:t>user   0m0.121s</a:t>
                      </a:r>
                    </a:p>
                    <a:p>
                      <a:pPr algn="ctr"/>
                      <a:r>
                        <a:rPr lang="en-US" dirty="0"/>
                        <a:t>sys   0m0.928s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real  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0m17.226s</a:t>
                      </a:r>
                    </a:p>
                    <a:p>
                      <a:pPr algn="ctr"/>
                      <a:r>
                        <a:rPr lang="en-US" dirty="0"/>
                        <a:t>user   0m0.105s</a:t>
                      </a:r>
                    </a:p>
                    <a:p>
                      <a:pPr algn="ctr"/>
                      <a:r>
                        <a:rPr lang="en-US" dirty="0"/>
                        <a:t>sys   0m0.947s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5644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FA7AE63-F711-DEDF-622B-A2F45C98C516}"/>
              </a:ext>
            </a:extLst>
          </p:cNvPr>
          <p:cNvSpPr txBox="1"/>
          <p:nvPr/>
        </p:nvSpPr>
        <p:spPr>
          <a:xfrm>
            <a:off x="1465017" y="6231356"/>
            <a:ext cx="9261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*: Received </a:t>
            </a:r>
            <a:r>
              <a:rPr lang="en-US" dirty="0" err="1"/>
              <a:t>protobuf</a:t>
            </a:r>
            <a:r>
              <a:rPr lang="en-US" dirty="0"/>
              <a:t> is not converted into readable format, remains in </a:t>
            </a:r>
            <a:r>
              <a:rPr lang="en-US" dirty="0" err="1"/>
              <a:t>protobuf</a:t>
            </a:r>
            <a:r>
              <a:rPr lang="en-US" dirty="0"/>
              <a:t> binary/bytes</a:t>
            </a:r>
          </a:p>
        </p:txBody>
      </p:sp>
    </p:spTree>
    <p:extLst>
      <p:ext uri="{BB962C8B-B14F-4D97-AF65-F5344CB8AC3E}">
        <p14:creationId xmlns:p14="http://schemas.microsoft.com/office/powerpoint/2010/main" val="2496575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6972CD-6F07-6D84-0AB4-D97852A79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PersonImage</a:t>
            </a:r>
            <a:r>
              <a:rPr lang="en-US" sz="4000" dirty="0">
                <a:solidFill>
                  <a:srgbClr val="FFFFFF"/>
                </a:solidFill>
              </a:rPr>
              <a:t>(Bytes) payload</a:t>
            </a:r>
          </a:p>
        </p:txBody>
      </p:sp>
      <p:graphicFrame>
        <p:nvGraphicFramePr>
          <p:cNvPr id="4" name="Content Placeholder 10">
            <a:extLst>
              <a:ext uri="{FF2B5EF4-FFF2-40B4-BE49-F238E27FC236}">
                <a16:creationId xmlns:a16="http://schemas.microsoft.com/office/drawing/2014/main" id="{8F14C90B-4E36-B749-4932-3B391E9654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0341293"/>
              </p:ext>
            </p:extLst>
          </p:nvPr>
        </p:nvGraphicFramePr>
        <p:xfrm>
          <a:off x="32062" y="2703414"/>
          <a:ext cx="6031869" cy="3554326"/>
        </p:xfrm>
        <a:graphic>
          <a:graphicData uri="http://schemas.openxmlformats.org/drawingml/2006/table">
            <a:tbl>
              <a:tblPr lastRow="1" bandRow="1">
                <a:tableStyleId>{00A15C55-8517-42AA-B614-E9B94910E393}</a:tableStyleId>
              </a:tblPr>
              <a:tblGrid>
                <a:gridCol w="2010623">
                  <a:extLst>
                    <a:ext uri="{9D8B030D-6E8A-4147-A177-3AD203B41FA5}">
                      <a16:colId xmlns:a16="http://schemas.microsoft.com/office/drawing/2014/main" val="3081154217"/>
                    </a:ext>
                  </a:extLst>
                </a:gridCol>
                <a:gridCol w="2010623">
                  <a:extLst>
                    <a:ext uri="{9D8B030D-6E8A-4147-A177-3AD203B41FA5}">
                      <a16:colId xmlns:a16="http://schemas.microsoft.com/office/drawing/2014/main" val="1897701556"/>
                    </a:ext>
                  </a:extLst>
                </a:gridCol>
                <a:gridCol w="2010623">
                  <a:extLst>
                    <a:ext uri="{9D8B030D-6E8A-4147-A177-3AD203B41FA5}">
                      <a16:colId xmlns:a16="http://schemas.microsoft.com/office/drawing/2014/main" val="2271323864"/>
                    </a:ext>
                  </a:extLst>
                </a:gridCol>
              </a:tblGrid>
              <a:tr h="51061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gRPC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gRPCurl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protoCURL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401481"/>
                  </a:ext>
                </a:extLst>
              </a:tr>
              <a:tr h="7519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</a:t>
                      </a:r>
                    </a:p>
                    <a:p>
                      <a:pPr algn="ctr"/>
                      <a:r>
                        <a:rPr lang="en-US" dirty="0"/>
                        <a:t>JSON</a:t>
                      </a:r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902575"/>
                  </a:ext>
                </a:extLst>
              </a:tr>
              <a:tr h="172552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real   0m23.949s</a:t>
                      </a:r>
                    </a:p>
                    <a:p>
                      <a:pPr algn="ctr"/>
                      <a:r>
                        <a:rPr lang="en-US" dirty="0"/>
                        <a:t>user   0m0.210s</a:t>
                      </a:r>
                    </a:p>
                    <a:p>
                      <a:pPr algn="ctr"/>
                      <a:r>
                        <a:rPr lang="en-US" dirty="0"/>
                        <a:t>sys   0m0.948s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real   0m16.642s *</a:t>
                      </a:r>
                    </a:p>
                    <a:p>
                      <a:pPr algn="ctr"/>
                      <a:r>
                        <a:rPr lang="en-US" dirty="0"/>
                        <a:t>user   0m0.135s</a:t>
                      </a:r>
                    </a:p>
                    <a:p>
                      <a:pPr algn="ctr"/>
                      <a:r>
                        <a:rPr lang="en-US" dirty="0"/>
                        <a:t>sys   0m0.790s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real   0m38.019s</a:t>
                      </a:r>
                    </a:p>
                    <a:p>
                      <a:pPr algn="ctr"/>
                      <a:r>
                        <a:rPr lang="en-US" dirty="0"/>
                        <a:t>user   0m0.229s</a:t>
                      </a:r>
                    </a:p>
                    <a:p>
                      <a:pPr algn="ctr"/>
                      <a:r>
                        <a:rPr lang="en-US" dirty="0"/>
                        <a:t>sys   0m0.684s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56449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31A3C96-57F5-91D8-25DA-68841D8BF39A}"/>
              </a:ext>
            </a:extLst>
          </p:cNvPr>
          <p:cNvSpPr txBox="1"/>
          <p:nvPr/>
        </p:nvSpPr>
        <p:spPr>
          <a:xfrm>
            <a:off x="1743281" y="1763864"/>
            <a:ext cx="26623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PI Repository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A5CE16-F130-5BBE-2549-EF87EF1C0463}"/>
              </a:ext>
            </a:extLst>
          </p:cNvPr>
          <p:cNvSpPr txBox="1"/>
          <p:nvPr/>
        </p:nvSpPr>
        <p:spPr>
          <a:xfrm>
            <a:off x="7531510" y="1763865"/>
            <a:ext cx="29172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PIB Repository</a:t>
            </a:r>
          </a:p>
        </p:txBody>
      </p:sp>
      <p:graphicFrame>
        <p:nvGraphicFramePr>
          <p:cNvPr id="15" name="Content Placeholder 10">
            <a:extLst>
              <a:ext uri="{FF2B5EF4-FFF2-40B4-BE49-F238E27FC236}">
                <a16:creationId xmlns:a16="http://schemas.microsoft.com/office/drawing/2014/main" id="{793A6BC9-6BE5-A890-3849-89C5420CA7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9523330"/>
              </p:ext>
            </p:extLst>
          </p:nvPr>
        </p:nvGraphicFramePr>
        <p:xfrm>
          <a:off x="6128071" y="2703414"/>
          <a:ext cx="6031869" cy="3554326"/>
        </p:xfrm>
        <a:graphic>
          <a:graphicData uri="http://schemas.openxmlformats.org/drawingml/2006/table">
            <a:tbl>
              <a:tblPr lastRow="1" bandRow="1">
                <a:tableStyleId>{00A15C55-8517-42AA-B614-E9B94910E393}</a:tableStyleId>
              </a:tblPr>
              <a:tblGrid>
                <a:gridCol w="2010623">
                  <a:extLst>
                    <a:ext uri="{9D8B030D-6E8A-4147-A177-3AD203B41FA5}">
                      <a16:colId xmlns:a16="http://schemas.microsoft.com/office/drawing/2014/main" val="3081154217"/>
                    </a:ext>
                  </a:extLst>
                </a:gridCol>
                <a:gridCol w="2010623">
                  <a:extLst>
                    <a:ext uri="{9D8B030D-6E8A-4147-A177-3AD203B41FA5}">
                      <a16:colId xmlns:a16="http://schemas.microsoft.com/office/drawing/2014/main" val="1897701556"/>
                    </a:ext>
                  </a:extLst>
                </a:gridCol>
                <a:gridCol w="2010623">
                  <a:extLst>
                    <a:ext uri="{9D8B030D-6E8A-4147-A177-3AD203B41FA5}">
                      <a16:colId xmlns:a16="http://schemas.microsoft.com/office/drawing/2014/main" val="2271323864"/>
                    </a:ext>
                  </a:extLst>
                </a:gridCol>
              </a:tblGrid>
              <a:tr h="51061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gRPC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gRPCurl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protoCURL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401481"/>
                  </a:ext>
                </a:extLst>
              </a:tr>
              <a:tr h="7519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</a:t>
                      </a:r>
                    </a:p>
                    <a:p>
                      <a:pPr algn="ctr"/>
                      <a:r>
                        <a:rPr lang="en-US" dirty="0"/>
                        <a:t>JSON</a:t>
                      </a:r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902575"/>
                  </a:ext>
                </a:extLst>
              </a:tr>
              <a:tr h="172552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real   0m23.180s</a:t>
                      </a:r>
                    </a:p>
                    <a:p>
                      <a:pPr algn="ctr"/>
                      <a:r>
                        <a:rPr lang="en-US" dirty="0"/>
                        <a:t>user   0m0.075s</a:t>
                      </a:r>
                    </a:p>
                    <a:p>
                      <a:pPr algn="ctr"/>
                      <a:r>
                        <a:rPr lang="en-US" dirty="0"/>
                        <a:t>sys   0m1.085s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real   0m16.290s *</a:t>
                      </a:r>
                    </a:p>
                    <a:p>
                      <a:pPr algn="ctr"/>
                      <a:r>
                        <a:rPr lang="en-US" dirty="0"/>
                        <a:t>user   0m0.090s</a:t>
                      </a:r>
                    </a:p>
                    <a:p>
                      <a:pPr algn="ctr"/>
                      <a:r>
                        <a:rPr lang="en-US" dirty="0"/>
                        <a:t>sys   0m0.596s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real   0m37.316s</a:t>
                      </a:r>
                    </a:p>
                    <a:p>
                      <a:pPr algn="ctr"/>
                      <a:r>
                        <a:rPr lang="en-US" dirty="0"/>
                        <a:t>user   0m0.288s</a:t>
                      </a:r>
                    </a:p>
                    <a:p>
                      <a:pPr algn="ctr"/>
                      <a:r>
                        <a:rPr lang="en-US" dirty="0"/>
                        <a:t>sys   0m0.902s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56449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39EAE95-B7BE-6C1A-4E08-A4965438E428}"/>
              </a:ext>
            </a:extLst>
          </p:cNvPr>
          <p:cNvSpPr txBox="1"/>
          <p:nvPr/>
        </p:nvSpPr>
        <p:spPr>
          <a:xfrm>
            <a:off x="1465018" y="6373204"/>
            <a:ext cx="9261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*: Received </a:t>
            </a:r>
            <a:r>
              <a:rPr lang="en-US" dirty="0" err="1"/>
              <a:t>protobuf</a:t>
            </a:r>
            <a:r>
              <a:rPr lang="en-US" dirty="0"/>
              <a:t> is not converted into readable format, remains in </a:t>
            </a:r>
            <a:r>
              <a:rPr lang="en-US" dirty="0" err="1"/>
              <a:t>protobuf</a:t>
            </a:r>
            <a:r>
              <a:rPr lang="en-US" dirty="0"/>
              <a:t> binary/bytes</a:t>
            </a:r>
          </a:p>
        </p:txBody>
      </p:sp>
    </p:spTree>
    <p:extLst>
      <p:ext uri="{BB962C8B-B14F-4D97-AF65-F5344CB8AC3E}">
        <p14:creationId xmlns:p14="http://schemas.microsoft.com/office/powerpoint/2010/main" val="1856755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D2E210-D6C2-7A16-E7D8-8A7609146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Overall View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A708D20E-59A6-986D-938C-E73300F718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2133" y="2358429"/>
            <a:ext cx="12204132" cy="3714300"/>
          </a:xfrm>
        </p:spPr>
      </p:pic>
    </p:spTree>
    <p:extLst>
      <p:ext uri="{BB962C8B-B14F-4D97-AF65-F5344CB8AC3E}">
        <p14:creationId xmlns:p14="http://schemas.microsoft.com/office/powerpoint/2010/main" val="2158302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E65C8C-8D12-9A18-4A9A-7F24FA03A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0388AAC-3ADC-4C99-101E-BBE738C1C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F6C16A-4517-4FB5-22BE-F009DA915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CDD89C-570F-36A9-BF7F-F81FF36C9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D9CA6F-9682-A7A8-F411-6819E25569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E393B6-162A-D05A-0CDA-B6670E467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Overall 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D96FF1-156A-2772-A1E9-C85E31AC86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2889704"/>
            <a:ext cx="11327549" cy="260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407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67716C-FCC1-BEFB-7CFF-D715A7CFB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372036-6949-80A3-D4A4-B94FA621A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948" y="1275107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Server</a:t>
            </a:r>
            <a:b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-</a:t>
            </a:r>
            <a:b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Server</a:t>
            </a:r>
          </a:p>
        </p:txBody>
      </p:sp>
      <p:pic>
        <p:nvPicPr>
          <p:cNvPr id="6" name="Content Placeholder 5" descr="A group of white rectangular shapes with black text&#10;&#10;AI-generated content may be incorrect.">
            <a:extLst>
              <a:ext uri="{FF2B5EF4-FFF2-40B4-BE49-F238E27FC236}">
                <a16:creationId xmlns:a16="http://schemas.microsoft.com/office/drawing/2014/main" id="{12F25B2A-4329-D1A3-8155-83385F6A41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37" b="37100"/>
          <a:stretch/>
        </p:blipFill>
        <p:spPr>
          <a:xfrm>
            <a:off x="5608838" y="2285784"/>
            <a:ext cx="6554529" cy="245833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F8DAA9-D4C9-F504-C343-58009DDEB91B}"/>
              </a:ext>
            </a:extLst>
          </p:cNvPr>
          <p:cNvSpPr txBox="1"/>
          <p:nvPr/>
        </p:nvSpPr>
        <p:spPr>
          <a:xfrm>
            <a:off x="5692696" y="6033185"/>
            <a:ext cx="6386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Note: </a:t>
            </a:r>
            <a:r>
              <a:rPr lang="en-US" dirty="0" err="1"/>
              <a:t>gRPC</a:t>
            </a:r>
            <a:r>
              <a:rPr lang="en-US" dirty="0"/>
              <a:t> is done over a </a:t>
            </a:r>
            <a:r>
              <a:rPr lang="en-US" b="1" dirty="0"/>
              <a:t>persistent connection</a:t>
            </a:r>
            <a:r>
              <a:rPr lang="en-US" dirty="0"/>
              <a:t> for every call</a:t>
            </a:r>
          </a:p>
          <a:p>
            <a:pPr algn="ctr"/>
            <a:r>
              <a:rPr lang="en-US" dirty="0"/>
              <a:t>UN-like a REST call</a:t>
            </a:r>
          </a:p>
        </p:txBody>
      </p:sp>
    </p:spTree>
    <p:extLst>
      <p:ext uri="{BB962C8B-B14F-4D97-AF65-F5344CB8AC3E}">
        <p14:creationId xmlns:p14="http://schemas.microsoft.com/office/powerpoint/2010/main" val="2846767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A1BFDF-3974-B76B-DC94-5BAC03194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675404E-3C1D-9A22-58B5-AF508FB03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DC0BBB-333D-C07B-D155-93C9A8DED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76155D-7738-D91F-28B9-46B7DC0DB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7698B8-89EC-F3BC-AA02-31D88018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F0E251E-8BD4-7CE9-142C-88310D065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67D058-146D-6468-1347-33F289828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Test Case API Calls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91B336-30DC-E2D0-D024-4A754C0E35B3}"/>
              </a:ext>
            </a:extLst>
          </p:cNvPr>
          <p:cNvSpPr txBox="1"/>
          <p:nvPr/>
        </p:nvSpPr>
        <p:spPr>
          <a:xfrm>
            <a:off x="6298145" y="6322843"/>
            <a:ext cx="3739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Note: 97 Nations, 198 calls in total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50615B-CC60-BC77-D6DA-363D5E626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492" y="1904931"/>
            <a:ext cx="7817619" cy="306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354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D06768-3FC3-869F-0B6F-FFC00C07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1E7F03C-A3A9-B140-A78E-4A03A9B05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B7E501-EA51-6E71-8E3B-B1EA460C5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087BF3-8893-FCBD-5484-20093A53F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51C36A-0A6F-86F8-150D-6D49F5B5E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36E53D-169C-796B-8537-995D2D061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3388EA-D82E-1F17-9CAC-FFB1D1FEB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Person payload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87CCF752-FC84-F4FD-9AE9-8132EAB25B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4714150"/>
              </p:ext>
            </p:extLst>
          </p:nvPr>
        </p:nvGraphicFramePr>
        <p:xfrm>
          <a:off x="88488" y="2562623"/>
          <a:ext cx="12015020" cy="3330186"/>
        </p:xfrm>
        <a:graphic>
          <a:graphicData uri="http://schemas.openxmlformats.org/drawingml/2006/table">
            <a:tbl>
              <a:tblPr lastRow="1" bandRow="1">
                <a:tableStyleId>{00A15C55-8517-42AA-B614-E9B94910E393}</a:tableStyleId>
              </a:tblPr>
              <a:tblGrid>
                <a:gridCol w="2403004">
                  <a:extLst>
                    <a:ext uri="{9D8B030D-6E8A-4147-A177-3AD203B41FA5}">
                      <a16:colId xmlns:a16="http://schemas.microsoft.com/office/drawing/2014/main" val="3081154217"/>
                    </a:ext>
                  </a:extLst>
                </a:gridCol>
                <a:gridCol w="2403004">
                  <a:extLst>
                    <a:ext uri="{9D8B030D-6E8A-4147-A177-3AD203B41FA5}">
                      <a16:colId xmlns:a16="http://schemas.microsoft.com/office/drawing/2014/main" val="1897701556"/>
                    </a:ext>
                  </a:extLst>
                </a:gridCol>
                <a:gridCol w="2403004">
                  <a:extLst>
                    <a:ext uri="{9D8B030D-6E8A-4147-A177-3AD203B41FA5}">
                      <a16:colId xmlns:a16="http://schemas.microsoft.com/office/drawing/2014/main" val="2271323864"/>
                    </a:ext>
                  </a:extLst>
                </a:gridCol>
                <a:gridCol w="2403004">
                  <a:extLst>
                    <a:ext uri="{9D8B030D-6E8A-4147-A177-3AD203B41FA5}">
                      <a16:colId xmlns:a16="http://schemas.microsoft.com/office/drawing/2014/main" val="1928080491"/>
                    </a:ext>
                  </a:extLst>
                </a:gridCol>
                <a:gridCol w="2403004">
                  <a:extLst>
                    <a:ext uri="{9D8B030D-6E8A-4147-A177-3AD203B41FA5}">
                      <a16:colId xmlns:a16="http://schemas.microsoft.com/office/drawing/2014/main" val="3799813651"/>
                    </a:ext>
                  </a:extLst>
                </a:gridCol>
              </a:tblGrid>
              <a:tr h="85273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gRPC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401481"/>
                  </a:ext>
                </a:extLst>
              </a:tr>
              <a:tr h="7519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JSON</a:t>
                      </a:r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String/JSON</a:t>
                      </a:r>
                    </a:p>
                    <a:p>
                      <a:pPr algn="ctr"/>
                      <a:r>
                        <a:rPr lang="en-US" dirty="0"/>
                        <a:t>RESPONSE: 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JSON</a:t>
                      </a:r>
                    </a:p>
                    <a:p>
                      <a:pPr algn="ctr"/>
                      <a:r>
                        <a:rPr lang="en-US" dirty="0"/>
                        <a:t>RESPONSE: 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902575"/>
                  </a:ext>
                </a:extLst>
              </a:tr>
              <a:tr h="172552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150.94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251.92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244.4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294.18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265.82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56449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69629AE-BA3C-88B1-EC33-135F6CEB444E}"/>
              </a:ext>
            </a:extLst>
          </p:cNvPr>
          <p:cNvSpPr txBox="1"/>
          <p:nvPr/>
        </p:nvSpPr>
        <p:spPr>
          <a:xfrm>
            <a:off x="3178938" y="6194130"/>
            <a:ext cx="6281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Average over 50 iterations, Timings are in </a:t>
            </a:r>
            <a:r>
              <a:rPr lang="en-US" b="1" dirty="0" err="1"/>
              <a:t>ms</a:t>
            </a:r>
            <a:r>
              <a:rPr lang="en-US" b="1" dirty="0"/>
              <a:t>(milliseconds)</a:t>
            </a:r>
          </a:p>
        </p:txBody>
      </p:sp>
    </p:spTree>
    <p:extLst>
      <p:ext uri="{BB962C8B-B14F-4D97-AF65-F5344CB8AC3E}">
        <p14:creationId xmlns:p14="http://schemas.microsoft.com/office/powerpoint/2010/main" val="206347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44B56D-E6A5-3ECD-553E-AB34E3782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818017-892F-8535-CD4D-38DDAA575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0EB26A-E501-F727-CA7A-9121F734A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6BC1BB-B86D-6A6E-85D3-65BD4A1EE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166ABF-BF9C-4E63-E93F-1E1897BF0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C56C7B-5ADE-69AB-65C9-20D2140B1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6C611A-D96F-3617-9FE1-C2BA62560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PersonImage</a:t>
            </a:r>
            <a:r>
              <a:rPr lang="en-US" sz="4000" dirty="0">
                <a:solidFill>
                  <a:srgbClr val="FFFFFF"/>
                </a:solidFill>
              </a:rPr>
              <a:t>(String) payload</a:t>
            </a:r>
          </a:p>
        </p:txBody>
      </p:sp>
      <p:graphicFrame>
        <p:nvGraphicFramePr>
          <p:cNvPr id="4" name="Content Placeholder 10">
            <a:extLst>
              <a:ext uri="{FF2B5EF4-FFF2-40B4-BE49-F238E27FC236}">
                <a16:creationId xmlns:a16="http://schemas.microsoft.com/office/drawing/2014/main" id="{23907BAD-EBE1-87C3-BF41-CC51B2D35D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1744381"/>
              </p:ext>
            </p:extLst>
          </p:nvPr>
        </p:nvGraphicFramePr>
        <p:xfrm>
          <a:off x="1754646" y="2555932"/>
          <a:ext cx="9129856" cy="3330186"/>
        </p:xfrm>
        <a:graphic>
          <a:graphicData uri="http://schemas.openxmlformats.org/drawingml/2006/table">
            <a:tbl>
              <a:tblPr lastRow="1" bandRow="1">
                <a:tableStyleId>{00A15C55-8517-42AA-B614-E9B94910E393}</a:tableStyleId>
              </a:tblPr>
              <a:tblGrid>
                <a:gridCol w="2282464">
                  <a:extLst>
                    <a:ext uri="{9D8B030D-6E8A-4147-A177-3AD203B41FA5}">
                      <a16:colId xmlns:a16="http://schemas.microsoft.com/office/drawing/2014/main" val="3081154217"/>
                    </a:ext>
                  </a:extLst>
                </a:gridCol>
                <a:gridCol w="2282464">
                  <a:extLst>
                    <a:ext uri="{9D8B030D-6E8A-4147-A177-3AD203B41FA5}">
                      <a16:colId xmlns:a16="http://schemas.microsoft.com/office/drawing/2014/main" val="1897701556"/>
                    </a:ext>
                  </a:extLst>
                </a:gridCol>
                <a:gridCol w="2282464">
                  <a:extLst>
                    <a:ext uri="{9D8B030D-6E8A-4147-A177-3AD203B41FA5}">
                      <a16:colId xmlns:a16="http://schemas.microsoft.com/office/drawing/2014/main" val="2271323864"/>
                    </a:ext>
                  </a:extLst>
                </a:gridCol>
                <a:gridCol w="2282464">
                  <a:extLst>
                    <a:ext uri="{9D8B030D-6E8A-4147-A177-3AD203B41FA5}">
                      <a16:colId xmlns:a16="http://schemas.microsoft.com/office/drawing/2014/main" val="1928080491"/>
                    </a:ext>
                  </a:extLst>
                </a:gridCol>
              </a:tblGrid>
              <a:tr h="85273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gRPC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401481"/>
                  </a:ext>
                </a:extLst>
              </a:tr>
              <a:tr h="7519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JSON</a:t>
                      </a:r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JSON</a:t>
                      </a:r>
                    </a:p>
                    <a:p>
                      <a:pPr algn="ctr"/>
                      <a:r>
                        <a:rPr lang="en-US" dirty="0"/>
                        <a:t>RESPONSE: 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902575"/>
                  </a:ext>
                </a:extLst>
              </a:tr>
              <a:tr h="172552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1257.3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2243.4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2248.42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2056.3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5644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911AF93-A9FD-840A-EB92-237DCD4E04B1}"/>
              </a:ext>
            </a:extLst>
          </p:cNvPr>
          <p:cNvSpPr txBox="1"/>
          <p:nvPr/>
        </p:nvSpPr>
        <p:spPr>
          <a:xfrm>
            <a:off x="3178938" y="6194130"/>
            <a:ext cx="6281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Average over 50 iterations, Timings are in </a:t>
            </a:r>
            <a:r>
              <a:rPr lang="en-US" b="1" dirty="0" err="1"/>
              <a:t>ms</a:t>
            </a:r>
            <a:r>
              <a:rPr lang="en-US" b="1" dirty="0"/>
              <a:t>(milliseconds)</a:t>
            </a:r>
          </a:p>
        </p:txBody>
      </p:sp>
    </p:spTree>
    <p:extLst>
      <p:ext uri="{BB962C8B-B14F-4D97-AF65-F5344CB8AC3E}">
        <p14:creationId xmlns:p14="http://schemas.microsoft.com/office/powerpoint/2010/main" val="3882978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BCEACA-542D-14C6-9429-78C19E74A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EDBE281-72BF-B211-4942-73458FA17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3ABB2B-8F39-8258-A1B0-3532781D0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F76025-5D2F-2361-58E7-BC947EACF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43C0DE-AAA7-D277-BCA2-5ED691709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13B33-3A1F-509D-97BF-AE64BC18E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B10174-0CBC-BDFC-7BFF-ABE661990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PersonImage</a:t>
            </a:r>
            <a:r>
              <a:rPr lang="en-US" sz="4000" dirty="0">
                <a:solidFill>
                  <a:srgbClr val="FFFFFF"/>
                </a:solidFill>
              </a:rPr>
              <a:t>(Bytes) payload</a:t>
            </a:r>
          </a:p>
        </p:txBody>
      </p:sp>
      <p:graphicFrame>
        <p:nvGraphicFramePr>
          <p:cNvPr id="4" name="Content Placeholder 10">
            <a:extLst>
              <a:ext uri="{FF2B5EF4-FFF2-40B4-BE49-F238E27FC236}">
                <a16:creationId xmlns:a16="http://schemas.microsoft.com/office/drawing/2014/main" id="{517D549B-6518-21C9-C1DA-9C3B48E29B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3468295"/>
              </p:ext>
            </p:extLst>
          </p:nvPr>
        </p:nvGraphicFramePr>
        <p:xfrm>
          <a:off x="169717" y="2710107"/>
          <a:ext cx="5702709" cy="3766979"/>
        </p:xfrm>
        <a:graphic>
          <a:graphicData uri="http://schemas.openxmlformats.org/drawingml/2006/table">
            <a:tbl>
              <a:tblPr lastRow="1" bandRow="1">
                <a:tableStyleId>{00A15C55-8517-42AA-B614-E9B94910E393}</a:tableStyleId>
              </a:tblPr>
              <a:tblGrid>
                <a:gridCol w="1900903">
                  <a:extLst>
                    <a:ext uri="{9D8B030D-6E8A-4147-A177-3AD203B41FA5}">
                      <a16:colId xmlns:a16="http://schemas.microsoft.com/office/drawing/2014/main" val="3081154217"/>
                    </a:ext>
                  </a:extLst>
                </a:gridCol>
                <a:gridCol w="1900903">
                  <a:extLst>
                    <a:ext uri="{9D8B030D-6E8A-4147-A177-3AD203B41FA5}">
                      <a16:colId xmlns:a16="http://schemas.microsoft.com/office/drawing/2014/main" val="1897701556"/>
                    </a:ext>
                  </a:extLst>
                </a:gridCol>
                <a:gridCol w="1900903">
                  <a:extLst>
                    <a:ext uri="{9D8B030D-6E8A-4147-A177-3AD203B41FA5}">
                      <a16:colId xmlns:a16="http://schemas.microsoft.com/office/drawing/2014/main" val="2271323864"/>
                    </a:ext>
                  </a:extLst>
                </a:gridCol>
              </a:tblGrid>
              <a:tr h="85273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gRPC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401481"/>
                  </a:ext>
                </a:extLst>
              </a:tr>
              <a:tr h="7519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</a:t>
                      </a:r>
                    </a:p>
                    <a:p>
                      <a:pPr algn="ctr"/>
                      <a:r>
                        <a:rPr lang="en-US" dirty="0"/>
                        <a:t>JSON</a:t>
                      </a:r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902575"/>
                  </a:ext>
                </a:extLst>
              </a:tr>
              <a:tr h="172552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1159.84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1575.28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1568.84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564490"/>
                  </a:ext>
                </a:extLst>
              </a:tr>
            </a:tbl>
          </a:graphicData>
        </a:graphic>
      </p:graphicFrame>
      <p:graphicFrame>
        <p:nvGraphicFramePr>
          <p:cNvPr id="6" name="Content Placeholder 10">
            <a:extLst>
              <a:ext uri="{FF2B5EF4-FFF2-40B4-BE49-F238E27FC236}">
                <a16:creationId xmlns:a16="http://schemas.microsoft.com/office/drawing/2014/main" id="{84A5CEFA-7B15-4448-A2A7-2257E19C97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0167738"/>
              </p:ext>
            </p:extLst>
          </p:nvPr>
        </p:nvGraphicFramePr>
        <p:xfrm>
          <a:off x="6319574" y="2710107"/>
          <a:ext cx="5702709" cy="3766979"/>
        </p:xfrm>
        <a:graphic>
          <a:graphicData uri="http://schemas.openxmlformats.org/drawingml/2006/table">
            <a:tbl>
              <a:tblPr lastRow="1" bandRow="1">
                <a:tableStyleId>{00A15C55-8517-42AA-B614-E9B94910E393}</a:tableStyleId>
              </a:tblPr>
              <a:tblGrid>
                <a:gridCol w="1900903">
                  <a:extLst>
                    <a:ext uri="{9D8B030D-6E8A-4147-A177-3AD203B41FA5}">
                      <a16:colId xmlns:a16="http://schemas.microsoft.com/office/drawing/2014/main" val="3081154217"/>
                    </a:ext>
                  </a:extLst>
                </a:gridCol>
                <a:gridCol w="1900903">
                  <a:extLst>
                    <a:ext uri="{9D8B030D-6E8A-4147-A177-3AD203B41FA5}">
                      <a16:colId xmlns:a16="http://schemas.microsoft.com/office/drawing/2014/main" val="1897701556"/>
                    </a:ext>
                  </a:extLst>
                </a:gridCol>
                <a:gridCol w="1900903">
                  <a:extLst>
                    <a:ext uri="{9D8B030D-6E8A-4147-A177-3AD203B41FA5}">
                      <a16:colId xmlns:a16="http://schemas.microsoft.com/office/drawing/2014/main" val="2271323864"/>
                    </a:ext>
                  </a:extLst>
                </a:gridCol>
              </a:tblGrid>
              <a:tr h="85273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gRPC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401481"/>
                  </a:ext>
                </a:extLst>
              </a:tr>
              <a:tr h="7519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</a:t>
                      </a:r>
                    </a:p>
                    <a:p>
                      <a:pPr algn="ctr"/>
                      <a:r>
                        <a:rPr lang="en-US" dirty="0"/>
                        <a:t>JSON</a:t>
                      </a:r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902575"/>
                  </a:ext>
                </a:extLst>
              </a:tr>
              <a:tr h="172552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469.02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872.36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869.26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56449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E9AB23C-3AFC-91A3-2CB2-17A45933D3A5}"/>
              </a:ext>
            </a:extLst>
          </p:cNvPr>
          <p:cNvSpPr txBox="1"/>
          <p:nvPr/>
        </p:nvSpPr>
        <p:spPr>
          <a:xfrm>
            <a:off x="1743281" y="1763864"/>
            <a:ext cx="26623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PI Repository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F16BBF-0DDA-F815-B9B9-83FEF11A9BF5}"/>
              </a:ext>
            </a:extLst>
          </p:cNvPr>
          <p:cNvSpPr txBox="1"/>
          <p:nvPr/>
        </p:nvSpPr>
        <p:spPr>
          <a:xfrm>
            <a:off x="7531510" y="1763865"/>
            <a:ext cx="29172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PIB Repository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8C1E7D-B7A3-BA9A-1FD8-BDB8E11FB16B}"/>
              </a:ext>
            </a:extLst>
          </p:cNvPr>
          <p:cNvSpPr txBox="1"/>
          <p:nvPr/>
        </p:nvSpPr>
        <p:spPr>
          <a:xfrm>
            <a:off x="3178937" y="6469221"/>
            <a:ext cx="6281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Average over 50 iterations, Timings are in </a:t>
            </a:r>
            <a:r>
              <a:rPr lang="en-US" b="1" dirty="0" err="1"/>
              <a:t>ms</a:t>
            </a:r>
            <a:r>
              <a:rPr lang="en-US" b="1" dirty="0"/>
              <a:t>(milliseconds)</a:t>
            </a:r>
          </a:p>
        </p:txBody>
      </p:sp>
    </p:spTree>
    <p:extLst>
      <p:ext uri="{BB962C8B-B14F-4D97-AF65-F5344CB8AC3E}">
        <p14:creationId xmlns:p14="http://schemas.microsoft.com/office/powerpoint/2010/main" val="698164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1BCEEC-D946-9AC5-64AF-447D3F10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717485C-D4FE-FD8B-3436-1CD6720FD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4E74B7-1DEF-29D6-6068-3BAEDC0AD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9D57F8-FF87-5A7C-18AD-54CE18E57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7377B0-767D-C028-62C6-E71AA3D0A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CDC430-DCD4-390D-5445-AF017F21D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Overall 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6F99C5-2DE6-DC3E-B811-F64C9C810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0006"/>
            <a:ext cx="12192000" cy="383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10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9ECE6E-66C4-96BE-76E0-E8395F0A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Overall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9873B-F462-4550-D847-5493A0F7F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828056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486348-9C8C-956E-EECD-31C4C0425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8BE4124-8D30-1DC2-B53C-B5F878BC2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2038C41-35B5-1EF6-1052-075E6009F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20AD7AC-51EE-3B5A-5E10-3427555EE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05BFE44-8C17-D1D2-7C37-1E706B0A3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24B224-2337-94A3-09A4-89CD13D13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111BD28-CB9F-EE8A-5B99-4717244A2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D88438-EE8C-EE6E-5CA1-15ACA9CF7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948" y="1275107"/>
            <a:ext cx="4230100" cy="338749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Server</a:t>
            </a:r>
            <a:b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-</a:t>
            </a:r>
            <a:b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Server</a:t>
            </a:r>
            <a:b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(Parallel Calls)</a:t>
            </a:r>
          </a:p>
        </p:txBody>
      </p:sp>
      <p:pic>
        <p:nvPicPr>
          <p:cNvPr id="6" name="Content Placeholder 5" descr="A group of white rectangular shapes with black text&#10;&#10;AI-generated content may be incorrect.">
            <a:extLst>
              <a:ext uri="{FF2B5EF4-FFF2-40B4-BE49-F238E27FC236}">
                <a16:creationId xmlns:a16="http://schemas.microsoft.com/office/drawing/2014/main" id="{D89B77C8-4925-6999-1C55-69EF0F2184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37" b="37100"/>
          <a:stretch/>
        </p:blipFill>
        <p:spPr>
          <a:xfrm>
            <a:off x="5608838" y="2285784"/>
            <a:ext cx="6554529" cy="245833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A59B262-0A7A-105F-B4EA-A4A30E0CF2CE}"/>
              </a:ext>
            </a:extLst>
          </p:cNvPr>
          <p:cNvSpPr txBox="1"/>
          <p:nvPr/>
        </p:nvSpPr>
        <p:spPr>
          <a:xfrm>
            <a:off x="5494665" y="6033185"/>
            <a:ext cx="67828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Note: </a:t>
            </a:r>
            <a:r>
              <a:rPr lang="en-US" sz="1400" dirty="0" err="1"/>
              <a:t>gRPC</a:t>
            </a:r>
            <a:r>
              <a:rPr lang="en-US" sz="1400" dirty="0"/>
              <a:t> parallel calls is done over </a:t>
            </a:r>
            <a:r>
              <a:rPr lang="en-US" sz="1400" b="1" dirty="0"/>
              <a:t>one single persistent connection</a:t>
            </a:r>
            <a:r>
              <a:rPr lang="en-US" sz="1400" dirty="0"/>
              <a:t> for every call</a:t>
            </a:r>
          </a:p>
          <a:p>
            <a:pPr algn="ctr"/>
            <a:r>
              <a:rPr lang="en-US" sz="1400" dirty="0"/>
              <a:t>UN-like a REST call</a:t>
            </a:r>
          </a:p>
        </p:txBody>
      </p:sp>
    </p:spTree>
    <p:extLst>
      <p:ext uri="{BB962C8B-B14F-4D97-AF65-F5344CB8AC3E}">
        <p14:creationId xmlns:p14="http://schemas.microsoft.com/office/powerpoint/2010/main" val="1808849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5AE911-DF3F-8D5B-5D31-99B0E0542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F834897-4755-316F-222B-0DEB93F6E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2FE4BA-BFFB-B397-2B1A-10E1D64F94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0E0E9E-BF10-51E9-7CF1-7216C638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8626A9-7EC4-111E-FD1F-2DF08CAED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C34655-F53D-99C8-EB77-E69F31F69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7BBAE2-3E6B-5F5C-62DE-B1B652F5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Person payload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E8FD6B40-E2C0-861C-C6FA-7EFF42F2A1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0955844"/>
              </p:ext>
            </p:extLst>
          </p:nvPr>
        </p:nvGraphicFramePr>
        <p:xfrm>
          <a:off x="88488" y="2562623"/>
          <a:ext cx="12015020" cy="3330186"/>
        </p:xfrm>
        <a:graphic>
          <a:graphicData uri="http://schemas.openxmlformats.org/drawingml/2006/table">
            <a:tbl>
              <a:tblPr lastRow="1" bandRow="1">
                <a:tableStyleId>{00A15C55-8517-42AA-B614-E9B94910E393}</a:tableStyleId>
              </a:tblPr>
              <a:tblGrid>
                <a:gridCol w="2403004">
                  <a:extLst>
                    <a:ext uri="{9D8B030D-6E8A-4147-A177-3AD203B41FA5}">
                      <a16:colId xmlns:a16="http://schemas.microsoft.com/office/drawing/2014/main" val="3081154217"/>
                    </a:ext>
                  </a:extLst>
                </a:gridCol>
                <a:gridCol w="2403004">
                  <a:extLst>
                    <a:ext uri="{9D8B030D-6E8A-4147-A177-3AD203B41FA5}">
                      <a16:colId xmlns:a16="http://schemas.microsoft.com/office/drawing/2014/main" val="1897701556"/>
                    </a:ext>
                  </a:extLst>
                </a:gridCol>
                <a:gridCol w="2403004">
                  <a:extLst>
                    <a:ext uri="{9D8B030D-6E8A-4147-A177-3AD203B41FA5}">
                      <a16:colId xmlns:a16="http://schemas.microsoft.com/office/drawing/2014/main" val="2271323864"/>
                    </a:ext>
                  </a:extLst>
                </a:gridCol>
                <a:gridCol w="2403004">
                  <a:extLst>
                    <a:ext uri="{9D8B030D-6E8A-4147-A177-3AD203B41FA5}">
                      <a16:colId xmlns:a16="http://schemas.microsoft.com/office/drawing/2014/main" val="1928080491"/>
                    </a:ext>
                  </a:extLst>
                </a:gridCol>
                <a:gridCol w="2403004">
                  <a:extLst>
                    <a:ext uri="{9D8B030D-6E8A-4147-A177-3AD203B41FA5}">
                      <a16:colId xmlns:a16="http://schemas.microsoft.com/office/drawing/2014/main" val="3799813651"/>
                    </a:ext>
                  </a:extLst>
                </a:gridCol>
              </a:tblGrid>
              <a:tr h="85273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gRPC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401481"/>
                  </a:ext>
                </a:extLst>
              </a:tr>
              <a:tr h="7519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JSON</a:t>
                      </a:r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String/JSON</a:t>
                      </a:r>
                    </a:p>
                    <a:p>
                      <a:pPr algn="ctr"/>
                      <a:r>
                        <a:rPr lang="en-US" dirty="0"/>
                        <a:t>RESPONSE: 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JSON</a:t>
                      </a:r>
                    </a:p>
                    <a:p>
                      <a:pPr algn="ctr"/>
                      <a:r>
                        <a:rPr lang="en-US" dirty="0"/>
                        <a:t>RESPONSE: 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902575"/>
                  </a:ext>
                </a:extLst>
              </a:tr>
              <a:tr h="172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30.66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48.28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50.86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50.02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50.5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7256449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AA454E5-7975-9EBD-B232-71137A17AF03}"/>
              </a:ext>
            </a:extLst>
          </p:cNvPr>
          <p:cNvSpPr txBox="1"/>
          <p:nvPr/>
        </p:nvSpPr>
        <p:spPr>
          <a:xfrm>
            <a:off x="3178938" y="6194130"/>
            <a:ext cx="6281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Average over 50 iterations, Timings are in </a:t>
            </a:r>
            <a:r>
              <a:rPr lang="en-US" b="1" dirty="0" err="1"/>
              <a:t>ms</a:t>
            </a:r>
            <a:r>
              <a:rPr lang="en-US" b="1" dirty="0"/>
              <a:t>(milliseconds)</a:t>
            </a:r>
          </a:p>
        </p:txBody>
      </p:sp>
    </p:spTree>
    <p:extLst>
      <p:ext uri="{BB962C8B-B14F-4D97-AF65-F5344CB8AC3E}">
        <p14:creationId xmlns:p14="http://schemas.microsoft.com/office/powerpoint/2010/main" val="2439053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7BD1A9-C337-425E-6B06-369576F7E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DBA24AE-0B53-AE61-53CD-5BEE65221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7162C6-ECF5-875E-CF74-C671255A5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979A24-1627-9576-F021-8A8308A49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77AEC3-D209-49CD-A7DA-41730FA2F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B1F457-921A-1636-13C8-D739CF9C1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2CD81F-4FED-4A33-2247-867777F52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PersonImage</a:t>
            </a:r>
            <a:r>
              <a:rPr lang="en-US" sz="4000" dirty="0">
                <a:solidFill>
                  <a:srgbClr val="FFFFFF"/>
                </a:solidFill>
              </a:rPr>
              <a:t>(String) payload</a:t>
            </a:r>
          </a:p>
        </p:txBody>
      </p:sp>
      <p:graphicFrame>
        <p:nvGraphicFramePr>
          <p:cNvPr id="4" name="Content Placeholder 10">
            <a:extLst>
              <a:ext uri="{FF2B5EF4-FFF2-40B4-BE49-F238E27FC236}">
                <a16:creationId xmlns:a16="http://schemas.microsoft.com/office/drawing/2014/main" id="{99C28508-5BFF-B136-3EEC-3207691E0F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7145694"/>
              </p:ext>
            </p:extLst>
          </p:nvPr>
        </p:nvGraphicFramePr>
        <p:xfrm>
          <a:off x="1754646" y="2555932"/>
          <a:ext cx="9129856" cy="3330186"/>
        </p:xfrm>
        <a:graphic>
          <a:graphicData uri="http://schemas.openxmlformats.org/drawingml/2006/table">
            <a:tbl>
              <a:tblPr lastRow="1" bandRow="1">
                <a:tableStyleId>{00A15C55-8517-42AA-B614-E9B94910E393}</a:tableStyleId>
              </a:tblPr>
              <a:tblGrid>
                <a:gridCol w="2282464">
                  <a:extLst>
                    <a:ext uri="{9D8B030D-6E8A-4147-A177-3AD203B41FA5}">
                      <a16:colId xmlns:a16="http://schemas.microsoft.com/office/drawing/2014/main" val="3081154217"/>
                    </a:ext>
                  </a:extLst>
                </a:gridCol>
                <a:gridCol w="2282464">
                  <a:extLst>
                    <a:ext uri="{9D8B030D-6E8A-4147-A177-3AD203B41FA5}">
                      <a16:colId xmlns:a16="http://schemas.microsoft.com/office/drawing/2014/main" val="1897701556"/>
                    </a:ext>
                  </a:extLst>
                </a:gridCol>
                <a:gridCol w="2282464">
                  <a:extLst>
                    <a:ext uri="{9D8B030D-6E8A-4147-A177-3AD203B41FA5}">
                      <a16:colId xmlns:a16="http://schemas.microsoft.com/office/drawing/2014/main" val="2271323864"/>
                    </a:ext>
                  </a:extLst>
                </a:gridCol>
                <a:gridCol w="2282464">
                  <a:extLst>
                    <a:ext uri="{9D8B030D-6E8A-4147-A177-3AD203B41FA5}">
                      <a16:colId xmlns:a16="http://schemas.microsoft.com/office/drawing/2014/main" val="1928080491"/>
                    </a:ext>
                  </a:extLst>
                </a:gridCol>
              </a:tblGrid>
              <a:tr h="85273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gRPC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401481"/>
                  </a:ext>
                </a:extLst>
              </a:tr>
              <a:tr h="7519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JSON</a:t>
                      </a:r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JSON</a:t>
                      </a:r>
                    </a:p>
                    <a:p>
                      <a:pPr algn="ctr"/>
                      <a:r>
                        <a:rPr lang="en-US" dirty="0"/>
                        <a:t>RESPONSE: 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902575"/>
                  </a:ext>
                </a:extLst>
              </a:tr>
              <a:tr h="172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309.28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601.62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597.16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597.44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725644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AA1A081-64F5-E0D7-5CD2-DA4F9611601A}"/>
              </a:ext>
            </a:extLst>
          </p:cNvPr>
          <p:cNvSpPr txBox="1"/>
          <p:nvPr/>
        </p:nvSpPr>
        <p:spPr>
          <a:xfrm>
            <a:off x="3178938" y="6194130"/>
            <a:ext cx="6281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Average over 50 iterations, Timings are in </a:t>
            </a:r>
            <a:r>
              <a:rPr lang="en-US" b="1" dirty="0" err="1"/>
              <a:t>ms</a:t>
            </a:r>
            <a:r>
              <a:rPr lang="en-US" b="1" dirty="0"/>
              <a:t>(milliseconds)</a:t>
            </a:r>
          </a:p>
        </p:txBody>
      </p:sp>
    </p:spTree>
    <p:extLst>
      <p:ext uri="{BB962C8B-B14F-4D97-AF65-F5344CB8AC3E}">
        <p14:creationId xmlns:p14="http://schemas.microsoft.com/office/powerpoint/2010/main" val="364803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A25E28-3C32-0433-4891-47C420A80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957D81-4198-A509-5A19-EA5DF076A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D4BB02-C836-AD81-DAFF-7E061A714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51D5F3-1385-BAAB-D994-45C3AF78F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09CE7B-39C3-7966-8197-49430CD32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11E07F-9A80-B653-89D9-33BCAE46A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F4C515-9C14-5E92-8311-7477C0D0D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PersonImage</a:t>
            </a:r>
            <a:r>
              <a:rPr lang="en-US" sz="4000" dirty="0">
                <a:solidFill>
                  <a:srgbClr val="FFFFFF"/>
                </a:solidFill>
              </a:rPr>
              <a:t>(Bytes) payload</a:t>
            </a:r>
          </a:p>
        </p:txBody>
      </p:sp>
      <p:graphicFrame>
        <p:nvGraphicFramePr>
          <p:cNvPr id="4" name="Content Placeholder 10">
            <a:extLst>
              <a:ext uri="{FF2B5EF4-FFF2-40B4-BE49-F238E27FC236}">
                <a16:creationId xmlns:a16="http://schemas.microsoft.com/office/drawing/2014/main" id="{7B3E1DE3-4A7E-FD00-734D-EC3B00B4E2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3753857"/>
              </p:ext>
            </p:extLst>
          </p:nvPr>
        </p:nvGraphicFramePr>
        <p:xfrm>
          <a:off x="169717" y="2710107"/>
          <a:ext cx="5702709" cy="3766979"/>
        </p:xfrm>
        <a:graphic>
          <a:graphicData uri="http://schemas.openxmlformats.org/drawingml/2006/table">
            <a:tbl>
              <a:tblPr lastRow="1" bandRow="1">
                <a:tableStyleId>{00A15C55-8517-42AA-B614-E9B94910E393}</a:tableStyleId>
              </a:tblPr>
              <a:tblGrid>
                <a:gridCol w="1900903">
                  <a:extLst>
                    <a:ext uri="{9D8B030D-6E8A-4147-A177-3AD203B41FA5}">
                      <a16:colId xmlns:a16="http://schemas.microsoft.com/office/drawing/2014/main" val="3081154217"/>
                    </a:ext>
                  </a:extLst>
                </a:gridCol>
                <a:gridCol w="1900903">
                  <a:extLst>
                    <a:ext uri="{9D8B030D-6E8A-4147-A177-3AD203B41FA5}">
                      <a16:colId xmlns:a16="http://schemas.microsoft.com/office/drawing/2014/main" val="1897701556"/>
                    </a:ext>
                  </a:extLst>
                </a:gridCol>
                <a:gridCol w="1900903">
                  <a:extLst>
                    <a:ext uri="{9D8B030D-6E8A-4147-A177-3AD203B41FA5}">
                      <a16:colId xmlns:a16="http://schemas.microsoft.com/office/drawing/2014/main" val="2271323864"/>
                    </a:ext>
                  </a:extLst>
                </a:gridCol>
              </a:tblGrid>
              <a:tr h="85273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gRPC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401481"/>
                  </a:ext>
                </a:extLst>
              </a:tr>
              <a:tr h="7519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</a:t>
                      </a:r>
                    </a:p>
                    <a:p>
                      <a:pPr algn="ctr"/>
                      <a:r>
                        <a:rPr lang="en-US" dirty="0"/>
                        <a:t>JSON</a:t>
                      </a:r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902575"/>
                  </a:ext>
                </a:extLst>
              </a:tr>
              <a:tr h="172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329.9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410.24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402.88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72564490"/>
                  </a:ext>
                </a:extLst>
              </a:tr>
            </a:tbl>
          </a:graphicData>
        </a:graphic>
      </p:graphicFrame>
      <p:graphicFrame>
        <p:nvGraphicFramePr>
          <p:cNvPr id="6" name="Content Placeholder 10">
            <a:extLst>
              <a:ext uri="{FF2B5EF4-FFF2-40B4-BE49-F238E27FC236}">
                <a16:creationId xmlns:a16="http://schemas.microsoft.com/office/drawing/2014/main" id="{B22695F5-2515-E146-FEAD-859FD3CB81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0270630"/>
              </p:ext>
            </p:extLst>
          </p:nvPr>
        </p:nvGraphicFramePr>
        <p:xfrm>
          <a:off x="6319574" y="2710107"/>
          <a:ext cx="5702709" cy="3766979"/>
        </p:xfrm>
        <a:graphic>
          <a:graphicData uri="http://schemas.openxmlformats.org/drawingml/2006/table">
            <a:tbl>
              <a:tblPr lastRow="1" bandRow="1">
                <a:tableStyleId>{00A15C55-8517-42AA-B614-E9B94910E393}</a:tableStyleId>
              </a:tblPr>
              <a:tblGrid>
                <a:gridCol w="1900903">
                  <a:extLst>
                    <a:ext uri="{9D8B030D-6E8A-4147-A177-3AD203B41FA5}">
                      <a16:colId xmlns:a16="http://schemas.microsoft.com/office/drawing/2014/main" val="3081154217"/>
                    </a:ext>
                  </a:extLst>
                </a:gridCol>
                <a:gridCol w="1900903">
                  <a:extLst>
                    <a:ext uri="{9D8B030D-6E8A-4147-A177-3AD203B41FA5}">
                      <a16:colId xmlns:a16="http://schemas.microsoft.com/office/drawing/2014/main" val="1897701556"/>
                    </a:ext>
                  </a:extLst>
                </a:gridCol>
                <a:gridCol w="1900903">
                  <a:extLst>
                    <a:ext uri="{9D8B030D-6E8A-4147-A177-3AD203B41FA5}">
                      <a16:colId xmlns:a16="http://schemas.microsoft.com/office/drawing/2014/main" val="2271323864"/>
                    </a:ext>
                  </a:extLst>
                </a:gridCol>
              </a:tblGrid>
              <a:tr h="85273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gRPC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401481"/>
                  </a:ext>
                </a:extLst>
              </a:tr>
              <a:tr h="7519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</a:t>
                      </a:r>
                    </a:p>
                    <a:p>
                      <a:pPr algn="ctr"/>
                      <a:r>
                        <a:rPr lang="en-US" dirty="0"/>
                        <a:t>JSON</a:t>
                      </a:r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902575"/>
                  </a:ext>
                </a:extLst>
              </a:tr>
              <a:tr h="172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260.88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285.2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279.3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7256449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8799B1E-F1BD-C27E-184E-45654B159833}"/>
              </a:ext>
            </a:extLst>
          </p:cNvPr>
          <p:cNvSpPr txBox="1"/>
          <p:nvPr/>
        </p:nvSpPr>
        <p:spPr>
          <a:xfrm>
            <a:off x="1743281" y="1763864"/>
            <a:ext cx="26623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PI Repository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6F4AC2-5A46-5556-3328-8BBB21F498D6}"/>
              </a:ext>
            </a:extLst>
          </p:cNvPr>
          <p:cNvSpPr txBox="1"/>
          <p:nvPr/>
        </p:nvSpPr>
        <p:spPr>
          <a:xfrm>
            <a:off x="7531510" y="1763865"/>
            <a:ext cx="29172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PIB Repository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106721-C321-0551-94B4-548F01FD3577}"/>
              </a:ext>
            </a:extLst>
          </p:cNvPr>
          <p:cNvSpPr txBox="1"/>
          <p:nvPr/>
        </p:nvSpPr>
        <p:spPr>
          <a:xfrm>
            <a:off x="3178937" y="6469221"/>
            <a:ext cx="6281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Average over 50 iterations, Timings are in </a:t>
            </a:r>
            <a:r>
              <a:rPr lang="en-US" b="1" dirty="0" err="1"/>
              <a:t>ms</a:t>
            </a:r>
            <a:r>
              <a:rPr lang="en-US" b="1" dirty="0"/>
              <a:t>(milliseconds)</a:t>
            </a:r>
          </a:p>
        </p:txBody>
      </p:sp>
    </p:spTree>
    <p:extLst>
      <p:ext uri="{BB962C8B-B14F-4D97-AF65-F5344CB8AC3E}">
        <p14:creationId xmlns:p14="http://schemas.microsoft.com/office/powerpoint/2010/main" val="2366628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9FCAB-8F72-CBF6-30F4-1A6A3B238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9ADBE9-3BD2-6EF6-7DD7-7C52A2F3E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A3F53D-C0C9-8260-5ED8-610BD8922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AB8B4C-B88A-CB0C-B2D3-8D757FB8D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15DDB6-C2BC-266D-D432-8CC4B09E7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C727B6-496B-399E-2192-4A8AD04A8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Overall 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49AB3A-CCB3-FB7A-1699-0053D2B7A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7989"/>
            <a:ext cx="12192000" cy="479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5864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1A6C09-1A06-B891-9F78-0EACAC5B2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E29DC8A-30C4-6B45-6CBA-12EF88B83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DD04D8-C580-FE59-8113-CEF38C050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502AE2-E21B-2947-8EE9-A2215F331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2F2FEA-318A-CB59-1571-E940BFA77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0C9D0C-89DC-ECAA-4A8C-DF23914DB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8128856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Speedup/Slowdown relative comparison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48CD06-7B61-F81F-FE5F-D9F854757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" y="1798000"/>
            <a:ext cx="12192000" cy="481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739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883</TotalTime>
  <Words>1303</Words>
  <Application>Microsoft Office PowerPoint</Application>
  <PresentationFormat>Widescreen</PresentationFormat>
  <Paragraphs>403</Paragraphs>
  <Slides>25</Slides>
  <Notes>17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gRPC, REST, Protobuf, JSON</vt:lpstr>
      <vt:lpstr>General architecture (Testing based on)</vt:lpstr>
      <vt:lpstr>Entity / Payload [Person]</vt:lpstr>
      <vt:lpstr>Entity / Payload [PersonImageString]</vt:lpstr>
      <vt:lpstr>Entity / Payload [PersonImageBytes]</vt:lpstr>
      <vt:lpstr>Client - Server</vt:lpstr>
      <vt:lpstr>Test Case API Calls</vt:lpstr>
      <vt:lpstr>Person payload</vt:lpstr>
      <vt:lpstr>PersonImage(String) payload</vt:lpstr>
      <vt:lpstr>PersonImage(Bytes) payload</vt:lpstr>
      <vt:lpstr>Overall View</vt:lpstr>
      <vt:lpstr>Overall View</vt:lpstr>
      <vt:lpstr>Server - Server</vt:lpstr>
      <vt:lpstr>Test Case API Calls</vt:lpstr>
      <vt:lpstr>Person payload</vt:lpstr>
      <vt:lpstr>PersonImage(String) payload</vt:lpstr>
      <vt:lpstr>PersonImage(Bytes) payload</vt:lpstr>
      <vt:lpstr>Overall View</vt:lpstr>
      <vt:lpstr>Overall View</vt:lpstr>
      <vt:lpstr>Server - Server (Parallel Calls)</vt:lpstr>
      <vt:lpstr>Person payload</vt:lpstr>
      <vt:lpstr>PersonImage(String) payload</vt:lpstr>
      <vt:lpstr>PersonImage(Bytes) payload</vt:lpstr>
      <vt:lpstr>Overall View</vt:lpstr>
      <vt:lpstr>Speedup/Slowdown relative 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 Audric (EXT)</dc:creator>
  <cp:lastModifiedBy>HO Audric (EXT)</cp:lastModifiedBy>
  <cp:revision>2</cp:revision>
  <dcterms:created xsi:type="dcterms:W3CDTF">2025-07-15T13:25:42Z</dcterms:created>
  <dcterms:modified xsi:type="dcterms:W3CDTF">2025-07-17T06:57:37Z</dcterms:modified>
</cp:coreProperties>
</file>