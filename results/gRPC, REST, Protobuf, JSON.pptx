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73" r:id="rId5"/>
    <p:sldId id="274" r:id="rId6"/>
    <p:sldId id="261" r:id="rId7"/>
    <p:sldId id="275" r:id="rId8"/>
    <p:sldId id="258" r:id="rId9"/>
    <p:sldId id="259" r:id="rId10"/>
    <p:sldId id="260" r:id="rId11"/>
    <p:sldId id="266" r:id="rId12"/>
    <p:sldId id="269" r:id="rId13"/>
    <p:sldId id="262" r:id="rId14"/>
    <p:sldId id="276" r:id="rId15"/>
    <p:sldId id="263" r:id="rId16"/>
    <p:sldId id="264" r:id="rId17"/>
    <p:sldId id="265" r:id="rId18"/>
    <p:sldId id="268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8EDEC-DE15-40C5-A4EB-DDAC704C450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65C6F-9ADB-48CC-86E4-D074ED41C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7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522D-B74E-5976-BAE2-46577297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934F1-8891-00BC-1026-24105F94A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36380-C468-A840-46B6-AF916E140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3B1AB-019C-BFC5-F01B-F040ABF19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68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C8E2-89DC-4DC1-3DD0-E5A7185C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01005-1ED6-B9E9-9702-9882D0FA9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5B3A3-2B6E-B0B6-2DC2-486AFFEFA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84AC6-376E-E74A-8BFA-6AF5CD619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5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C711-4C24-9B4B-BA05-A7401C3C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22CE4-766C-48AC-4C65-908D34530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EB6F7-6C3F-121F-6479-91B742BD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A540B-C283-DA1B-1450-C3819D47C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4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5F29-CCC0-9AF3-FB0E-D4D97808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B4DE7-4C5B-5D4F-D4A9-32CF7D04E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87AE2-D42F-CBBD-F789-0BAE87EF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6A900-A3CA-802D-7F53-AF52B4794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5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85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Protobuf</a:t>
            </a:r>
            <a:r>
              <a:rPr lang="en-US" dirty="0"/>
              <a:t> binary bytes not converted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32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866A-B971-C947-AA4D-825BF698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81BBF-D37D-1167-D987-7D790375C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B79B3-071E-CFAB-67E2-3E1DB0965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74CC1-FAA1-2BAD-CC3E-004FE2541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69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7468-0AB9-CA24-EE38-FD7C759D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17BD2-63D9-D86C-D4D9-FC11A849A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8CA0C-084E-653B-4F8D-3FA56D09C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protobuf</a:t>
            </a:r>
            <a:r>
              <a:rPr lang="en-US" dirty="0"/>
              <a:t>, maybe due to bytes not converted, conversion not done</a:t>
            </a:r>
          </a:p>
          <a:p>
            <a:endParaRPr lang="en-US" dirty="0"/>
          </a:p>
          <a:p>
            <a:r>
              <a:rPr lang="en-US" dirty="0" err="1"/>
              <a:t>Grpc</a:t>
            </a:r>
            <a:r>
              <a:rPr lang="en-US" dirty="0"/>
              <a:t> inconsistent not always faster?</a:t>
            </a:r>
          </a:p>
          <a:p>
            <a:endParaRPr lang="en-US" dirty="0"/>
          </a:p>
          <a:p>
            <a:r>
              <a:rPr lang="en-US" dirty="0"/>
              <a:t>Rest JSON still for single instances request/responses</a:t>
            </a:r>
          </a:p>
          <a:p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protobuf</a:t>
            </a:r>
            <a:r>
              <a:rPr lang="en-US" dirty="0"/>
              <a:t> likely </a:t>
            </a:r>
            <a:r>
              <a:rPr lang="en-US" dirty="0" err="1"/>
              <a:t>protocurl</a:t>
            </a:r>
            <a:r>
              <a:rPr lang="en-US" dirty="0"/>
              <a:t> is not optimized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8EAFC-1D68-147C-107F-4C81A2C23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62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94ED-5D28-3458-FB68-3BCD15F7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588E0-87C8-488A-4E19-B928C9435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31088-CA9C-5297-CCB5-E8C85DB6B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CFB83-400B-3021-2E79-38AAAF90E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04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19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65C6F-9ADB-48CC-86E4-D074ED41C5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6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7092-A6F0-D383-EFC0-B4D40DDC7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76DE3-3444-0B3B-158C-4F5F3446C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5B9EA-2854-37D3-F356-3498E80A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BE45-DC49-34EF-9895-B85D7FB5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E32F-182B-DBC0-B1A4-9F1BE75B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4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93D1-15DC-4AD4-95BB-D175077E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35B07-5F46-1E13-AC3E-C3AEE9E2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62417-1254-0ECA-4757-21D2172A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E69E-5FD2-4AF5-D0D3-45B7F347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7E95F-7D16-8597-6983-25C745D7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4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31E2-3A73-8C91-2DBB-C0B0DC0C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FE24F-FEB4-E4C0-F690-9FC0B7736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772F5-81DB-7FC1-6188-F043E54CF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04FF9-A7A6-2AE0-BE30-0C883DD4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40492-B949-6502-78B2-8B763368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7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8605-6CA6-BBF0-F623-DE2B8DD8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6A98-EAB4-D46A-0616-E3712D75D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DF01A-19BC-4C3D-1F3D-65966A6AD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78120-DB35-D2E4-6AF5-F145A0E8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66E4A-D819-1998-E188-A59F94C7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B9C15-66C7-7B22-5F3D-F30C4912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6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1FAC-C6FD-3393-764C-A9B5C7CF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5E62E-16B2-2092-80DD-8AE946E85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20F7F-4BFA-12DE-023A-E6D5018E5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31E8B-739F-C0B0-13CF-67EF13929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073F2-9CD4-E51F-E19F-C63C78523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CC5F4-636D-07C7-6DE6-4A4183BA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57914-810A-4DBF-B9C7-1D466101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7C9401-2238-CE6E-EF1F-FE0E13A2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5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9952-D823-B626-F12C-C64E78B9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B7140-5E0F-A9E1-04BB-599C50B9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56E00-5CBF-2135-7696-F9FAC9B8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9355E-84B6-444B-A293-F1F1863C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599E0-06FE-2BE5-8683-A11F0216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B87D8-BC38-FFE1-2440-D3E31441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B2937-1040-9668-4F28-E1364CFC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0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D2E7-7CD6-B5F0-523B-9353A7E4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D2C9-0860-4F86-F498-D9D35132D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76484-2B10-8D2A-C664-BDEE6475A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227FD-2A3D-ECE3-C824-D8202FA2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91D86-9487-B120-89DF-E9E9275A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E369B-7E26-14FF-84E8-7B028D03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5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FC49-2F4C-FD8C-6768-ACA7BF65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3F0CF-C91C-B6AB-C356-D5E233884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762B4-7698-4286-0013-F7F3E1619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0A3D6-05A9-44AE-DEB3-9D963171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8ED7-7125-F848-1C55-8B76B8A4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83EB4-6CE8-79C2-FE6F-40AED205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7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998D-6CE4-9309-3EB6-9BD42AF0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E1C37-20B4-B724-2BCD-E34AE4ED0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CD7B4-6562-2DBE-792D-A2FE2013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81C3-4649-5893-0635-ACEC6C33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8EBB-CE78-3E69-AC29-FC9B9C04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3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4D001-B468-29AF-3E66-CAEC310B0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07A6A-40C7-9329-BF10-BBF6EF93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051B-FE64-7409-69DE-055CF97F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59705-AEF0-725F-F760-2CCE337B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5E978-B1E5-874B-D134-27199AA6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7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61CF-FD90-F593-A49E-19A878EA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F1BB6-4BC8-5DDA-EE1B-5951B6D52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7ECBE-3ED8-7C41-DEA7-0D2758749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F044-87D6-4710-9D25-D426445AAD07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A2839-A4E8-1558-9184-77D952FA0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0A36B-59BB-2823-D279-5941988BD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EA558-7C04-4321-89E6-9E16B1B6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9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5626E-B725-4675-A6AD-C7A41233B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gRPC, REST, Protobuf, JSON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50AB2-EA1B-F989-548E-23577A3BE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5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0DF9F-1E2D-5CFD-D2E6-89F1ED1A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General architecture (Testing based on)</a:t>
            </a:r>
          </a:p>
        </p:txBody>
      </p:sp>
      <p:pic>
        <p:nvPicPr>
          <p:cNvPr id="5" name="Content Placeholder 4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14E12D97-A3DA-867A-2F05-623C660A7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20" y="1976106"/>
            <a:ext cx="7772560" cy="4373334"/>
          </a:xfrm>
        </p:spPr>
      </p:pic>
    </p:spTree>
    <p:extLst>
      <p:ext uri="{BB962C8B-B14F-4D97-AF65-F5344CB8AC3E}">
        <p14:creationId xmlns:p14="http://schemas.microsoft.com/office/powerpoint/2010/main" val="13085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03E6A-BF1F-AD84-7792-10BE7BE1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15D92A-B4EC-7CD7-DB38-951CF8BC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993BC7-9325-D7D9-1246-03308735C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24E86-D8D1-4D3D-DD2D-034DA2D2D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73F59-E057-8325-292E-A00289252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2389F0-B866-B1C1-56DF-31D55BDBC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202BA-8996-F713-1D31-C8E031E0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/ Payload [Person]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DB0AE57-7B02-59D6-5C8D-D4A65CDD5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7685" y="1765335"/>
            <a:ext cx="9976630" cy="4896722"/>
          </a:xfrm>
        </p:spPr>
      </p:pic>
    </p:spTree>
    <p:extLst>
      <p:ext uri="{BB962C8B-B14F-4D97-AF65-F5344CB8AC3E}">
        <p14:creationId xmlns:p14="http://schemas.microsoft.com/office/powerpoint/2010/main" val="410779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3F334-5EC9-0819-5E2E-6668E94E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8351FA-DB6D-7585-EFA4-75DB6F672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A4418-2F79-095E-66A8-9D7826290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10358-46A6-E35B-C620-AF55B5FAB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61DEBD-3F4D-C46C-8707-0A140CFBA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D55637-E60F-6B10-3463-2F45925EA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02E4F-AD2C-063C-D185-3ADA2D3A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/ Payload [</a:t>
            </a:r>
            <a:r>
              <a:rPr lang="en-US" sz="4000" dirty="0" err="1">
                <a:solidFill>
                  <a:srgbClr val="FFFFFF"/>
                </a:solidFill>
              </a:rPr>
              <a:t>PersonImageString</a:t>
            </a:r>
            <a:r>
              <a:rPr lang="en-US" sz="4000" dirty="0">
                <a:solidFill>
                  <a:srgbClr val="FFFFFF"/>
                </a:solidFill>
              </a:rPr>
              <a:t>]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28320F-66C9-235E-B273-15C2E40D9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8420" y="1704837"/>
            <a:ext cx="991515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7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FD1B7-3F88-6A9F-8F6E-76238614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C7A5A0-D37F-0305-EDCA-6FAE102BB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ACC7AF-6832-7EB9-CA3C-8F99EC54E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A480D6-198C-C735-F2A1-5CCAC1CE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0173E-A394-F36A-BE03-0586FADAD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5C1D4-3228-053A-D5FE-67B0F228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03077-A7F4-9944-6E5B-FBDF17A8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/ Payload [</a:t>
            </a:r>
            <a:r>
              <a:rPr lang="en-US" sz="4000" dirty="0" err="1">
                <a:solidFill>
                  <a:srgbClr val="FFFFFF"/>
                </a:solidFill>
              </a:rPr>
              <a:t>PersonImageBytes</a:t>
            </a:r>
            <a:r>
              <a:rPr lang="en-US" sz="4000" dirty="0">
                <a:solidFill>
                  <a:srgbClr val="FFFFFF"/>
                </a:solidFill>
              </a:rPr>
              <a:t>]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35D0DD-9541-E381-BAD1-90991B2BA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8788" y="1704837"/>
            <a:ext cx="9774420" cy="5032375"/>
          </a:xfrm>
        </p:spPr>
      </p:pic>
    </p:spTree>
    <p:extLst>
      <p:ext uri="{BB962C8B-B14F-4D97-AF65-F5344CB8AC3E}">
        <p14:creationId xmlns:p14="http://schemas.microsoft.com/office/powerpoint/2010/main" val="233944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CC0B9-5544-01BC-A8FD-404A60ED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E090C-195C-6E65-DB45-3D8BB9D7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46" y="1171112"/>
            <a:ext cx="4230100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Client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-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Server</a:t>
            </a:r>
          </a:p>
        </p:txBody>
      </p:sp>
      <p:pic>
        <p:nvPicPr>
          <p:cNvPr id="7" name="Content Placeholder 6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5D582FEA-7736-6300-EF8E-6F865AD65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2" t="30978" r="38520"/>
          <a:stretch/>
        </p:blipFill>
        <p:spPr>
          <a:xfrm>
            <a:off x="6858519" y="772213"/>
            <a:ext cx="4055166" cy="531357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17AE92-F90C-D4F3-908A-ED9A2EEBE3C7}"/>
              </a:ext>
            </a:extLst>
          </p:cNvPr>
          <p:cNvSpPr txBox="1"/>
          <p:nvPr/>
        </p:nvSpPr>
        <p:spPr>
          <a:xfrm>
            <a:off x="6007232" y="6148727"/>
            <a:ext cx="5940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  <a:r>
              <a:rPr lang="en-US" dirty="0" err="1"/>
              <a:t>gRPC</a:t>
            </a:r>
            <a:r>
              <a:rPr lang="en-US" dirty="0"/>
              <a:t> is </a:t>
            </a:r>
            <a:r>
              <a:rPr lang="en-US" b="1" dirty="0"/>
              <a:t>instanced</a:t>
            </a:r>
            <a:r>
              <a:rPr lang="en-US" dirty="0"/>
              <a:t> for every call here like a REST call</a:t>
            </a:r>
          </a:p>
          <a:p>
            <a:pPr algn="ctr"/>
            <a:r>
              <a:rPr lang="en-US" dirty="0"/>
              <a:t>Reflection for </a:t>
            </a:r>
            <a:r>
              <a:rPr lang="en-US" dirty="0" err="1"/>
              <a:t>gRPC</a:t>
            </a:r>
            <a:r>
              <a:rPr lang="en-US" dirty="0"/>
              <a:t> not presented in the slides</a:t>
            </a:r>
          </a:p>
        </p:txBody>
      </p:sp>
    </p:spTree>
    <p:extLst>
      <p:ext uri="{BB962C8B-B14F-4D97-AF65-F5344CB8AC3E}">
        <p14:creationId xmlns:p14="http://schemas.microsoft.com/office/powerpoint/2010/main" val="420425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C9D2B-99F4-649F-96B2-651B1609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C43B0-8566-FCC0-2B04-2B536BB2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 Case API Calls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7C1898-8588-AAD8-8827-0C26B7748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55046" y="350491"/>
            <a:ext cx="7225748" cy="52928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D32120-12F4-5454-BDEA-5B526E4723D7}"/>
              </a:ext>
            </a:extLst>
          </p:cNvPr>
          <p:cNvSpPr txBox="1"/>
          <p:nvPr/>
        </p:nvSpPr>
        <p:spPr>
          <a:xfrm>
            <a:off x="6298145" y="6322843"/>
            <a:ext cx="373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97 Nations, 198 calls in total</a:t>
            </a:r>
          </a:p>
        </p:txBody>
      </p:sp>
    </p:spTree>
    <p:extLst>
      <p:ext uri="{BB962C8B-B14F-4D97-AF65-F5344CB8AC3E}">
        <p14:creationId xmlns:p14="http://schemas.microsoft.com/office/powerpoint/2010/main" val="295419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8FD87-69E7-27D9-D0CF-2400AB09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Person payload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6174FF5-3C94-5260-B038-D52A3F5DE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671175"/>
              </p:ext>
            </p:extLst>
          </p:nvPr>
        </p:nvGraphicFramePr>
        <p:xfrm>
          <a:off x="86360" y="2481386"/>
          <a:ext cx="12019275" cy="349265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403855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  <a:gridCol w="2403855">
                  <a:extLst>
                    <a:ext uri="{9D8B030D-6E8A-4147-A177-3AD203B41FA5}">
                      <a16:colId xmlns:a16="http://schemas.microsoft.com/office/drawing/2014/main" val="379981365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String/JSON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0m20.956s</a:t>
                      </a:r>
                    </a:p>
                    <a:p>
                      <a:pPr algn="ctr"/>
                      <a:r>
                        <a:rPr lang="en-US" dirty="0"/>
                        <a:t>user   0m0.105s</a:t>
                      </a:r>
                    </a:p>
                    <a:p>
                      <a:pPr algn="ctr"/>
                      <a:r>
                        <a:rPr lang="en-US" dirty="0"/>
                        <a:t>sys   0m0.749s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0m13.810s *</a:t>
                      </a:r>
                    </a:p>
                    <a:p>
                      <a:pPr algn="ctr"/>
                      <a:r>
                        <a:rPr lang="en-US" dirty="0"/>
                        <a:t>user   0m0.166s</a:t>
                      </a:r>
                    </a:p>
                    <a:p>
                      <a:pPr algn="ctr"/>
                      <a:r>
                        <a:rPr lang="en-US" dirty="0"/>
                        <a:t>sys   0m0.805s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0m38.767s</a:t>
                      </a:r>
                    </a:p>
                    <a:p>
                      <a:pPr algn="ctr"/>
                      <a:r>
                        <a:rPr lang="en-US" dirty="0"/>
                        <a:t>user   0m0.121s</a:t>
                      </a:r>
                    </a:p>
                    <a:p>
                      <a:pPr algn="ctr"/>
                      <a:r>
                        <a:rPr lang="en-US" dirty="0"/>
                        <a:t>sys   0m0.791s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0m22.641s</a:t>
                      </a:r>
                    </a:p>
                    <a:p>
                      <a:pPr algn="ctr"/>
                      <a:r>
                        <a:rPr lang="en-US" dirty="0"/>
                        <a:t>user   0m0.241s</a:t>
                      </a:r>
                    </a:p>
                    <a:p>
                      <a:pPr algn="ctr"/>
                      <a:r>
                        <a:rPr lang="en-US" dirty="0"/>
                        <a:t>sys   0m2.065s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0m21.812s</a:t>
                      </a:r>
                    </a:p>
                    <a:p>
                      <a:pPr algn="ctr"/>
                      <a:r>
                        <a:rPr lang="en-US" dirty="0"/>
                        <a:t>user   0m0.166s</a:t>
                      </a:r>
                    </a:p>
                    <a:p>
                      <a:pPr algn="ctr"/>
                      <a:r>
                        <a:rPr lang="en-US" dirty="0"/>
                        <a:t>sys   0m1.482s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B5533E-DF33-1CD4-65BC-0D29A27ED3B8}"/>
              </a:ext>
            </a:extLst>
          </p:cNvPr>
          <p:cNvSpPr txBox="1"/>
          <p:nvPr/>
        </p:nvSpPr>
        <p:spPr>
          <a:xfrm>
            <a:off x="1465017" y="6231356"/>
            <a:ext cx="92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*: Received </a:t>
            </a:r>
            <a:r>
              <a:rPr lang="en-US" dirty="0" err="1"/>
              <a:t>protobuf</a:t>
            </a:r>
            <a:r>
              <a:rPr lang="en-US" dirty="0"/>
              <a:t> is not converted into readable format, remains in </a:t>
            </a:r>
            <a:r>
              <a:rPr lang="en-US" dirty="0" err="1"/>
              <a:t>protobuf</a:t>
            </a:r>
            <a:r>
              <a:rPr lang="en-US" dirty="0"/>
              <a:t> binary/bytes</a:t>
            </a:r>
          </a:p>
        </p:txBody>
      </p:sp>
    </p:spTree>
    <p:extLst>
      <p:ext uri="{BB962C8B-B14F-4D97-AF65-F5344CB8AC3E}">
        <p14:creationId xmlns:p14="http://schemas.microsoft.com/office/powerpoint/2010/main" val="73115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39C1D-8686-19D1-ADB9-17012082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91073-8BBF-96BF-76B4-2415EBAA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(String)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9B8C419-8734-F767-F467-B4D3A81BF8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3820148"/>
              </p:ext>
            </p:extLst>
          </p:nvPr>
        </p:nvGraphicFramePr>
        <p:xfrm>
          <a:off x="1737360" y="2555932"/>
          <a:ext cx="9029348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257337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257337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257337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257337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0m22.919s</a:t>
                      </a:r>
                    </a:p>
                    <a:p>
                      <a:pPr algn="ctr"/>
                      <a:r>
                        <a:rPr lang="en-US" dirty="0"/>
                        <a:t>user   0m0.120s</a:t>
                      </a:r>
                    </a:p>
                    <a:p>
                      <a:pPr algn="ctr"/>
                      <a:r>
                        <a:rPr lang="en-US" dirty="0"/>
                        <a:t>sys   0m0.824s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0m17.600s *</a:t>
                      </a:r>
                    </a:p>
                    <a:p>
                      <a:pPr algn="ctr"/>
                      <a:r>
                        <a:rPr lang="en-US" dirty="0"/>
                        <a:t>user   0m0.107s</a:t>
                      </a:r>
                    </a:p>
                    <a:p>
                      <a:pPr algn="ctr"/>
                      <a:r>
                        <a:rPr lang="en-US" dirty="0"/>
                        <a:t>sys   0m0.488s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0m43.198s</a:t>
                      </a:r>
                    </a:p>
                    <a:p>
                      <a:pPr algn="ctr"/>
                      <a:r>
                        <a:rPr lang="en-US" dirty="0"/>
                        <a:t>user   0m0.121s</a:t>
                      </a:r>
                    </a:p>
                    <a:p>
                      <a:pPr algn="ctr"/>
                      <a:r>
                        <a:rPr lang="en-US" dirty="0"/>
                        <a:t>sys   0m0.928s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0m17.226s</a:t>
                      </a:r>
                    </a:p>
                    <a:p>
                      <a:pPr algn="ctr"/>
                      <a:r>
                        <a:rPr lang="en-US" dirty="0"/>
                        <a:t>user   0m0.105s</a:t>
                      </a:r>
                    </a:p>
                    <a:p>
                      <a:pPr algn="ctr"/>
                      <a:r>
                        <a:rPr lang="en-US" dirty="0"/>
                        <a:t>sys   0m0.947s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A7AE63-F711-DEDF-622B-A2F45C98C516}"/>
              </a:ext>
            </a:extLst>
          </p:cNvPr>
          <p:cNvSpPr txBox="1"/>
          <p:nvPr/>
        </p:nvSpPr>
        <p:spPr>
          <a:xfrm>
            <a:off x="1465017" y="6231356"/>
            <a:ext cx="92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*: Received </a:t>
            </a:r>
            <a:r>
              <a:rPr lang="en-US" dirty="0" err="1"/>
              <a:t>protobuf</a:t>
            </a:r>
            <a:r>
              <a:rPr lang="en-US" dirty="0"/>
              <a:t> is not converted into readable format, remains in </a:t>
            </a:r>
            <a:r>
              <a:rPr lang="en-US" dirty="0" err="1"/>
              <a:t>protobuf</a:t>
            </a:r>
            <a:r>
              <a:rPr lang="en-US" dirty="0"/>
              <a:t> binary/bytes</a:t>
            </a:r>
          </a:p>
        </p:txBody>
      </p:sp>
    </p:spTree>
    <p:extLst>
      <p:ext uri="{BB962C8B-B14F-4D97-AF65-F5344CB8AC3E}">
        <p14:creationId xmlns:p14="http://schemas.microsoft.com/office/powerpoint/2010/main" val="249657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972CD-6F07-6D84-0AB4-D97852A7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(Bytes)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8F14C90B-4E36-B749-4932-3B391E9654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0341293"/>
              </p:ext>
            </p:extLst>
          </p:nvPr>
        </p:nvGraphicFramePr>
        <p:xfrm>
          <a:off x="32062" y="2703414"/>
          <a:ext cx="6031869" cy="355432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01062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51061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0m23.949s</a:t>
                      </a:r>
                    </a:p>
                    <a:p>
                      <a:pPr algn="ctr"/>
                      <a:r>
                        <a:rPr lang="en-US" dirty="0"/>
                        <a:t>user   0m0.210s</a:t>
                      </a:r>
                    </a:p>
                    <a:p>
                      <a:pPr algn="ctr"/>
                      <a:r>
                        <a:rPr lang="en-US" dirty="0"/>
                        <a:t>sys   0m0.948s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real   0m16.642s *</a:t>
                      </a:r>
                    </a:p>
                    <a:p>
                      <a:pPr algn="ctr"/>
                      <a:r>
                        <a:rPr lang="en-US" dirty="0"/>
                        <a:t>user   0m0.135s</a:t>
                      </a:r>
                    </a:p>
                    <a:p>
                      <a:pPr algn="ctr"/>
                      <a:r>
                        <a:rPr lang="en-US" dirty="0"/>
                        <a:t>sys   0m0.790s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0m38.019s</a:t>
                      </a:r>
                    </a:p>
                    <a:p>
                      <a:pPr algn="ctr"/>
                      <a:r>
                        <a:rPr lang="en-US" dirty="0"/>
                        <a:t>user   0m0.229s</a:t>
                      </a:r>
                    </a:p>
                    <a:p>
                      <a:pPr algn="ctr"/>
                      <a:r>
                        <a:rPr lang="en-US" dirty="0"/>
                        <a:t>sys   0m0.684s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1A3C96-57F5-91D8-25DA-68841D8BF39A}"/>
              </a:ext>
            </a:extLst>
          </p:cNvPr>
          <p:cNvSpPr txBox="1"/>
          <p:nvPr/>
        </p:nvSpPr>
        <p:spPr>
          <a:xfrm>
            <a:off x="1743281" y="1763864"/>
            <a:ext cx="2662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5CE16-F130-5BBE-2549-EF87EF1C0463}"/>
              </a:ext>
            </a:extLst>
          </p:cNvPr>
          <p:cNvSpPr txBox="1"/>
          <p:nvPr/>
        </p:nvSpPr>
        <p:spPr>
          <a:xfrm>
            <a:off x="7531510" y="1763865"/>
            <a:ext cx="2917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PIB Repository</a:t>
            </a:r>
          </a:p>
        </p:txBody>
      </p:sp>
      <p:graphicFrame>
        <p:nvGraphicFramePr>
          <p:cNvPr id="15" name="Content Placeholder 10">
            <a:extLst>
              <a:ext uri="{FF2B5EF4-FFF2-40B4-BE49-F238E27FC236}">
                <a16:creationId xmlns:a16="http://schemas.microsoft.com/office/drawing/2014/main" id="{793A6BC9-6BE5-A890-3849-89C5420CA7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9523330"/>
              </p:ext>
            </p:extLst>
          </p:nvPr>
        </p:nvGraphicFramePr>
        <p:xfrm>
          <a:off x="6128071" y="2703414"/>
          <a:ext cx="6031869" cy="355432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01062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01062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51061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gRPCurl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protoCURL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0m23.180s</a:t>
                      </a:r>
                    </a:p>
                    <a:p>
                      <a:pPr algn="ctr"/>
                      <a:r>
                        <a:rPr lang="en-US" dirty="0"/>
                        <a:t>user   0m0.075s</a:t>
                      </a:r>
                    </a:p>
                    <a:p>
                      <a:pPr algn="ctr"/>
                      <a:r>
                        <a:rPr lang="en-US" dirty="0"/>
                        <a:t>sys   0m1.085s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real   0m16.290s *</a:t>
                      </a:r>
                    </a:p>
                    <a:p>
                      <a:pPr algn="ctr"/>
                      <a:r>
                        <a:rPr lang="en-US" dirty="0"/>
                        <a:t>user   0m0.090s</a:t>
                      </a:r>
                    </a:p>
                    <a:p>
                      <a:pPr algn="ctr"/>
                      <a:r>
                        <a:rPr lang="en-US" dirty="0"/>
                        <a:t>sys   0m0.596s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real   0m37.316s</a:t>
                      </a:r>
                    </a:p>
                    <a:p>
                      <a:pPr algn="ctr"/>
                      <a:r>
                        <a:rPr lang="en-US" dirty="0"/>
                        <a:t>user   0m0.288s</a:t>
                      </a:r>
                    </a:p>
                    <a:p>
                      <a:pPr algn="ctr"/>
                      <a:r>
                        <a:rPr lang="en-US" dirty="0"/>
                        <a:t>sys   0m0.902s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39EAE95-B7BE-6C1A-4E08-A4965438E428}"/>
              </a:ext>
            </a:extLst>
          </p:cNvPr>
          <p:cNvSpPr txBox="1"/>
          <p:nvPr/>
        </p:nvSpPr>
        <p:spPr>
          <a:xfrm>
            <a:off x="1465018" y="6373204"/>
            <a:ext cx="926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*: Received </a:t>
            </a:r>
            <a:r>
              <a:rPr lang="en-US" dirty="0" err="1"/>
              <a:t>protobuf</a:t>
            </a:r>
            <a:r>
              <a:rPr lang="en-US" dirty="0"/>
              <a:t> is not converted into readable format, remains in </a:t>
            </a:r>
            <a:r>
              <a:rPr lang="en-US" dirty="0" err="1"/>
              <a:t>protobuf</a:t>
            </a:r>
            <a:r>
              <a:rPr lang="en-US" dirty="0"/>
              <a:t> binary/bytes</a:t>
            </a:r>
          </a:p>
        </p:txBody>
      </p:sp>
    </p:spTree>
    <p:extLst>
      <p:ext uri="{BB962C8B-B14F-4D97-AF65-F5344CB8AC3E}">
        <p14:creationId xmlns:p14="http://schemas.microsoft.com/office/powerpoint/2010/main" val="185675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2E210-D6C2-7A16-E7D8-8A760914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708D20E-59A6-986D-938C-E73300F71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133" y="2358429"/>
            <a:ext cx="12204132" cy="3714300"/>
          </a:xfrm>
        </p:spPr>
      </p:pic>
    </p:spTree>
    <p:extLst>
      <p:ext uri="{BB962C8B-B14F-4D97-AF65-F5344CB8AC3E}">
        <p14:creationId xmlns:p14="http://schemas.microsoft.com/office/powerpoint/2010/main" val="215830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5C8C-8D12-9A18-4A9A-7F24FA03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388AAC-3ADC-4C99-101E-BBE738C1C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6C16A-4517-4FB5-22BE-F009DA915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CDD89C-570F-36A9-BF7F-F81FF36C9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D9CA6F-9682-A7A8-F411-6819E2556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93B6-162A-D05A-0CDA-B6670E46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D96FF1-156A-2772-A1E9-C85E31AC8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889704"/>
            <a:ext cx="11327549" cy="260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7716C-FCC1-BEFB-7CFF-D715A7CF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72036-6949-80A3-D4A4-B94FA62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948" y="1275107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</a:t>
            </a:r>
            <a:b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</a:t>
            </a:r>
          </a:p>
        </p:txBody>
      </p:sp>
      <p:pic>
        <p:nvPicPr>
          <p:cNvPr id="6" name="Content Placeholder 5" descr="A group of white rectangular shapes with black text&#10;&#10;AI-generated content may be incorrect.">
            <a:extLst>
              <a:ext uri="{FF2B5EF4-FFF2-40B4-BE49-F238E27FC236}">
                <a16:creationId xmlns:a16="http://schemas.microsoft.com/office/drawing/2014/main" id="{12F25B2A-4329-D1A3-8155-83385F6A4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7" b="37100"/>
          <a:stretch/>
        </p:blipFill>
        <p:spPr>
          <a:xfrm>
            <a:off x="5608838" y="2285784"/>
            <a:ext cx="6554529" cy="245833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F8DAA9-D4C9-F504-C343-58009DDEB91B}"/>
              </a:ext>
            </a:extLst>
          </p:cNvPr>
          <p:cNvSpPr txBox="1"/>
          <p:nvPr/>
        </p:nvSpPr>
        <p:spPr>
          <a:xfrm>
            <a:off x="5692696" y="6033185"/>
            <a:ext cx="6386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Note: </a:t>
            </a:r>
            <a:r>
              <a:rPr lang="en-US" dirty="0" err="1"/>
              <a:t>gRPC</a:t>
            </a:r>
            <a:r>
              <a:rPr lang="en-US" dirty="0"/>
              <a:t> is done over a </a:t>
            </a:r>
            <a:r>
              <a:rPr lang="en-US" b="1" dirty="0"/>
              <a:t>persistent connection</a:t>
            </a:r>
            <a:r>
              <a:rPr lang="en-US" dirty="0"/>
              <a:t> for every call</a:t>
            </a:r>
          </a:p>
          <a:p>
            <a:pPr algn="ctr"/>
            <a:r>
              <a:rPr lang="en-US" dirty="0"/>
              <a:t>UN-like a REST call</a:t>
            </a:r>
          </a:p>
        </p:txBody>
      </p:sp>
    </p:spTree>
    <p:extLst>
      <p:ext uri="{BB962C8B-B14F-4D97-AF65-F5344CB8AC3E}">
        <p14:creationId xmlns:p14="http://schemas.microsoft.com/office/powerpoint/2010/main" val="2846767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1BFDF-3974-B76B-DC94-5BAC0319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675404E-3C1D-9A22-58B5-AF508FB03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C0BBB-333D-C07B-D155-93C9A8DED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76155D-7738-D91F-28B9-46B7DC0DB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7698B8-89EC-F3BC-AA02-31D88018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F0E251E-8BD4-7CE9-142C-88310D065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7D058-146D-6468-1347-33F289828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 Case API Calls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1B336-30DC-E2D0-D024-4A754C0E35B3}"/>
              </a:ext>
            </a:extLst>
          </p:cNvPr>
          <p:cNvSpPr txBox="1"/>
          <p:nvPr/>
        </p:nvSpPr>
        <p:spPr>
          <a:xfrm>
            <a:off x="6298145" y="6322843"/>
            <a:ext cx="373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97 Nations, 198 calls in total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0615B-CC60-BC77-D6DA-363D5E62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492" y="1904931"/>
            <a:ext cx="7817619" cy="30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54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06768-3FC3-869F-0B6F-FFC00C07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E7F03C-A3A9-B140-A78E-4A03A9B05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B7E501-EA51-6E71-8E3B-B1EA460C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87BF3-8893-FCBD-5484-20093A53F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51C36A-0A6F-86F8-150D-6D49F5B5E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36E53D-169C-796B-8537-995D2D061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388EA-D82E-1F17-9CAC-FFB1D1FE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Person payload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7CCF752-FC84-F4FD-9AE9-8132EAB25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714150"/>
              </p:ext>
            </p:extLst>
          </p:nvPr>
        </p:nvGraphicFramePr>
        <p:xfrm>
          <a:off x="88488" y="2562623"/>
          <a:ext cx="12015020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403004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  <a:gridCol w="2403004">
                  <a:extLst>
                    <a:ext uri="{9D8B030D-6E8A-4147-A177-3AD203B41FA5}">
                      <a16:colId xmlns:a16="http://schemas.microsoft.com/office/drawing/2014/main" val="379981365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String/JSON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150.94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251.92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265.82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9629AE-BA3C-88B1-EC33-135F6CEB444E}"/>
              </a:ext>
            </a:extLst>
          </p:cNvPr>
          <p:cNvSpPr txBox="1"/>
          <p:nvPr/>
        </p:nvSpPr>
        <p:spPr>
          <a:xfrm>
            <a:off x="3178938" y="6194130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206347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4B56D-E6A5-3ECD-553E-AB34E378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818017-892F-8535-CD4D-38DDAA575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0EB26A-E501-F727-CA7A-9121F734A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BC1BB-B86D-6A6E-85D3-65BD4A1EE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166ABF-BF9C-4E63-E93F-1E1897BF0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C56C7B-5ADE-69AB-65C9-20D2140B1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C611A-D96F-3617-9FE1-C2BA6256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(String)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23907BAD-EBE1-87C3-BF41-CC51B2D35D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1744381"/>
              </p:ext>
            </p:extLst>
          </p:nvPr>
        </p:nvGraphicFramePr>
        <p:xfrm>
          <a:off x="1754646" y="2555932"/>
          <a:ext cx="9129856" cy="3330186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2282464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  <a:gridCol w="2282464">
                  <a:extLst>
                    <a:ext uri="{9D8B030D-6E8A-4147-A177-3AD203B41FA5}">
                      <a16:colId xmlns:a16="http://schemas.microsoft.com/office/drawing/2014/main" val="1928080491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JSON</a:t>
                      </a:r>
                    </a:p>
                    <a:p>
                      <a:pPr algn="ctr"/>
                      <a:r>
                        <a:rPr lang="en-US" dirty="0"/>
                        <a:t>RESPONSE: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1257.3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2243.4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2248.42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2056.3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11AF93-A9FD-840A-EB92-237DCD4E04B1}"/>
              </a:ext>
            </a:extLst>
          </p:cNvPr>
          <p:cNvSpPr txBox="1"/>
          <p:nvPr/>
        </p:nvSpPr>
        <p:spPr>
          <a:xfrm>
            <a:off x="3178938" y="6194130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3882978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CEACA-542D-14C6-9429-78C19E74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DBE281-72BF-B211-4942-73458FA17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3ABB2B-8F39-8258-A1B0-3532781D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F76025-5D2F-2361-58E7-BC947EAC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3C0DE-AAA7-D277-BCA2-5ED69170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13B33-3A1F-509D-97BF-AE64BC18E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10174-0CBC-BDFC-7BFF-ABE66199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PersonImage</a:t>
            </a:r>
            <a:r>
              <a:rPr lang="en-US" sz="4000" dirty="0">
                <a:solidFill>
                  <a:srgbClr val="FFFFFF"/>
                </a:solidFill>
              </a:rPr>
              <a:t>(Bytes) payload</a:t>
            </a:r>
          </a:p>
        </p:txBody>
      </p:sp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517D549B-6518-21C9-C1DA-9C3B48E29B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468295"/>
              </p:ext>
            </p:extLst>
          </p:nvPr>
        </p:nvGraphicFramePr>
        <p:xfrm>
          <a:off x="169717" y="2710107"/>
          <a:ext cx="5702709" cy="376697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1159.84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1575.28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1568.84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graphicFrame>
        <p:nvGraphicFramePr>
          <p:cNvPr id="6" name="Content Placeholder 10">
            <a:extLst>
              <a:ext uri="{FF2B5EF4-FFF2-40B4-BE49-F238E27FC236}">
                <a16:creationId xmlns:a16="http://schemas.microsoft.com/office/drawing/2014/main" id="{84A5CEFA-7B15-4448-A2A7-2257E19C97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0167738"/>
              </p:ext>
            </p:extLst>
          </p:nvPr>
        </p:nvGraphicFramePr>
        <p:xfrm>
          <a:off x="6319574" y="2710107"/>
          <a:ext cx="5702709" cy="3766979"/>
        </p:xfrm>
        <a:graphic>
          <a:graphicData uri="http://schemas.openxmlformats.org/drawingml/2006/table">
            <a:tbl>
              <a:tblPr lastRow="1" bandRow="1">
                <a:tableStyleId>{00A15C55-8517-42AA-B614-E9B94910E393}</a:tableStyleId>
              </a:tblPr>
              <a:tblGrid>
                <a:gridCol w="1900903">
                  <a:extLst>
                    <a:ext uri="{9D8B030D-6E8A-4147-A177-3AD203B41FA5}">
                      <a16:colId xmlns:a16="http://schemas.microsoft.com/office/drawing/2014/main" val="3081154217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1897701556"/>
                    </a:ext>
                  </a:extLst>
                </a:gridCol>
                <a:gridCol w="1900903">
                  <a:extLst>
                    <a:ext uri="{9D8B030D-6E8A-4147-A177-3AD203B41FA5}">
                      <a16:colId xmlns:a16="http://schemas.microsoft.com/office/drawing/2014/main" val="2271323864"/>
                    </a:ext>
                  </a:extLst>
                </a:gridCol>
              </a:tblGrid>
              <a:tr h="8527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1481"/>
                  </a:ext>
                </a:extLst>
              </a:tr>
              <a:tr h="751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</a:t>
                      </a:r>
                    </a:p>
                    <a:p>
                      <a:pPr algn="ctr"/>
                      <a:r>
                        <a:rPr lang="en-US" dirty="0"/>
                        <a:t>JSON</a:t>
                      </a:r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RESPONSE: </a:t>
                      </a:r>
                      <a:r>
                        <a:rPr lang="en-US" dirty="0" err="1"/>
                        <a:t>protobuf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902575"/>
                  </a:ext>
                </a:extLst>
              </a:tr>
              <a:tr h="172552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469.02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872.36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869.26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5644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9AB23C-3AFC-91A3-2CB2-17A45933D3A5}"/>
              </a:ext>
            </a:extLst>
          </p:cNvPr>
          <p:cNvSpPr txBox="1"/>
          <p:nvPr/>
        </p:nvSpPr>
        <p:spPr>
          <a:xfrm>
            <a:off x="1743281" y="1763864"/>
            <a:ext cx="2662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 Repository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16BBF-0DDA-F815-B9B9-83FEF11A9BF5}"/>
              </a:ext>
            </a:extLst>
          </p:cNvPr>
          <p:cNvSpPr txBox="1"/>
          <p:nvPr/>
        </p:nvSpPr>
        <p:spPr>
          <a:xfrm>
            <a:off x="7531510" y="1763865"/>
            <a:ext cx="2917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PIB Repository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C1E7D-B7A3-BA9A-1FD8-BDB8E11FB16B}"/>
              </a:ext>
            </a:extLst>
          </p:cNvPr>
          <p:cNvSpPr txBox="1"/>
          <p:nvPr/>
        </p:nvSpPr>
        <p:spPr>
          <a:xfrm>
            <a:off x="3178937" y="6469221"/>
            <a:ext cx="6281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Average over 50 iterations, Timings are in </a:t>
            </a:r>
            <a:r>
              <a:rPr lang="en-US" b="1" dirty="0" err="1"/>
              <a:t>ms</a:t>
            </a:r>
            <a:r>
              <a:rPr lang="en-US" b="1" dirty="0"/>
              <a:t>(milliseconds)</a:t>
            </a:r>
          </a:p>
        </p:txBody>
      </p:sp>
    </p:spTree>
    <p:extLst>
      <p:ext uri="{BB962C8B-B14F-4D97-AF65-F5344CB8AC3E}">
        <p14:creationId xmlns:p14="http://schemas.microsoft.com/office/powerpoint/2010/main" val="698164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BCEEC-D946-9AC5-64AF-447D3F10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17485C-D4FE-FD8B-3436-1CD6720F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E74B7-1DEF-29D6-6068-3BAEDC0AD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D57F8-FF87-5A7C-18AD-54CE18E5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7377B0-767D-C028-62C6-E71AA3D0A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DC430-DCD4-390D-5445-AF017F21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F99C5-2DE6-DC3E-B811-F64C9C810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0006"/>
            <a:ext cx="12192000" cy="38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ECE6E-66C4-96BE-76E0-E8395F0A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Overall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873B-F462-4550-D847-5493A0F7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2805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859</Words>
  <Application>Microsoft Office PowerPoint</Application>
  <PresentationFormat>Widescreen</PresentationFormat>
  <Paragraphs>311</Paragraphs>
  <Slides>19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gRPC, REST, Protobuf, JSON</vt:lpstr>
      <vt:lpstr>General architecture (Testing based on)</vt:lpstr>
      <vt:lpstr>Entity / Payload [Person]</vt:lpstr>
      <vt:lpstr>Entity / Payload [PersonImageString]</vt:lpstr>
      <vt:lpstr>Entity / Payload [PersonImageBytes]</vt:lpstr>
      <vt:lpstr>Client - Server</vt:lpstr>
      <vt:lpstr>Test Case API Calls</vt:lpstr>
      <vt:lpstr>Person payload</vt:lpstr>
      <vt:lpstr>PersonImage(String) payload</vt:lpstr>
      <vt:lpstr>PersonImage(Bytes) payload</vt:lpstr>
      <vt:lpstr>Overall View</vt:lpstr>
      <vt:lpstr>Overall View</vt:lpstr>
      <vt:lpstr>Server - Server</vt:lpstr>
      <vt:lpstr>Test Case API Calls</vt:lpstr>
      <vt:lpstr>Person payload</vt:lpstr>
      <vt:lpstr>PersonImage(String) payload</vt:lpstr>
      <vt:lpstr>PersonImage(Bytes) payload</vt:lpstr>
      <vt:lpstr>Overall View</vt:lpstr>
      <vt:lpstr>Overall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Audric (EXT)</dc:creator>
  <cp:lastModifiedBy>HO Audric (EXT)</cp:lastModifiedBy>
  <cp:revision>1</cp:revision>
  <dcterms:created xsi:type="dcterms:W3CDTF">2025-07-15T13:25:42Z</dcterms:created>
  <dcterms:modified xsi:type="dcterms:W3CDTF">2025-07-16T03:46:55Z</dcterms:modified>
</cp:coreProperties>
</file>